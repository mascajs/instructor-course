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6dbfd33b26426e" /><Relationship Type="http://schemas.openxmlformats.org/officeDocument/2006/relationships/extended-properties" Target="/docProps/app.xml" Id="R2a1c5671b97244a6" /><Relationship Type="http://schemas.openxmlformats.org/officeDocument/2006/relationships/officeDocument" Target="/ppt/presentation.xml" Id="R1b0ddc2101c743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e8284cfe4544f8"/>
  </p:sldMasterIdLst>
  <p:notesMasterIdLst>
    <p:notesMasterId xmlns:r="http://schemas.openxmlformats.org/officeDocument/2006/relationships" r:id="R08c7b148e79d4cde"/>
  </p:notesMasterIdLst>
  <p:sldIdLst>
    <p:sldId xmlns:r="http://schemas.openxmlformats.org/officeDocument/2006/relationships" id="256" r:id="Rbdf8b3066e204e4a"/>
    <p:sldId xmlns:r="http://schemas.openxmlformats.org/officeDocument/2006/relationships" id="257" r:id="R9143836327374b86"/>
    <p:sldId xmlns:r="http://schemas.openxmlformats.org/officeDocument/2006/relationships" id="258" r:id="Re808f9d1ddaa4e5c"/>
    <p:sldId xmlns:r="http://schemas.openxmlformats.org/officeDocument/2006/relationships" id="259" r:id="Rbf446e6cf4994880"/>
    <p:sldId xmlns:r="http://schemas.openxmlformats.org/officeDocument/2006/relationships" id="260" r:id="R0f038fed9ed74285"/>
    <p:sldId xmlns:r="http://schemas.openxmlformats.org/officeDocument/2006/relationships" id="261" r:id="R427330f980d345fa"/>
    <p:sldId xmlns:r="http://schemas.openxmlformats.org/officeDocument/2006/relationships" id="262" r:id="R0ba2a8dcd02a4ba8"/>
    <p:sldId xmlns:r="http://schemas.openxmlformats.org/officeDocument/2006/relationships" id="263" r:id="R7451aa87f9fe46a7"/>
    <p:sldId xmlns:r="http://schemas.openxmlformats.org/officeDocument/2006/relationships" id="264" r:id="R643653c7c8634300"/>
    <p:sldId xmlns:r="http://schemas.openxmlformats.org/officeDocument/2006/relationships" id="265" r:id="Ra2619bbbf8144db3"/>
    <p:sldId xmlns:r="http://schemas.openxmlformats.org/officeDocument/2006/relationships" id="266" r:id="Ref6c78132db94ae9"/>
    <p:sldId xmlns:r="http://schemas.openxmlformats.org/officeDocument/2006/relationships" id="267" r:id="R2b3bdb3e3d754ba1"/>
    <p:sldId xmlns:r="http://schemas.openxmlformats.org/officeDocument/2006/relationships" id="268" r:id="Rb239ab5748e94231"/>
    <p:sldId xmlns:r="http://schemas.openxmlformats.org/officeDocument/2006/relationships" id="269" r:id="Rfb180ebc9dab47ba"/>
    <p:sldId xmlns:r="http://schemas.openxmlformats.org/officeDocument/2006/relationships" id="270" r:id="Rd0ccbcd8811548fe"/>
    <p:sldId xmlns:r="http://schemas.openxmlformats.org/officeDocument/2006/relationships" id="271" r:id="R071d364f6ecd4b6b"/>
    <p:sldId xmlns:r="http://schemas.openxmlformats.org/officeDocument/2006/relationships" id="272" r:id="R05aa961640c84245"/>
    <p:sldId xmlns:r="http://schemas.openxmlformats.org/officeDocument/2006/relationships" id="273" r:id="R460947172d964289"/>
    <p:sldId xmlns:r="http://schemas.openxmlformats.org/officeDocument/2006/relationships" id="274" r:id="R31bbcc58b2994721"/>
    <p:sldId xmlns:r="http://schemas.openxmlformats.org/officeDocument/2006/relationships" id="275" r:id="Rfa660f1e0ffa4b31"/>
    <p:sldId xmlns:r="http://schemas.openxmlformats.org/officeDocument/2006/relationships" id="276" r:id="R0f90c4d2c8ef4d21"/>
    <p:sldId xmlns:r="http://schemas.openxmlformats.org/officeDocument/2006/relationships" id="277" r:id="Rc07484e6bae94f7f"/>
    <p:sldId xmlns:r="http://schemas.openxmlformats.org/officeDocument/2006/relationships" id="278" r:id="Rd1bdebfd539346bc"/>
    <p:sldId xmlns:r="http://schemas.openxmlformats.org/officeDocument/2006/relationships" id="279" r:id="R8eb32d9b504f4f9c"/>
    <p:sldId xmlns:r="http://schemas.openxmlformats.org/officeDocument/2006/relationships" id="280" r:id="R172823fd95684e01"/>
    <p:sldId xmlns:r="http://schemas.openxmlformats.org/officeDocument/2006/relationships" id="281" r:id="Racb55044e4a04cb6"/>
    <p:sldId xmlns:r="http://schemas.openxmlformats.org/officeDocument/2006/relationships" id="282" r:id="R26f6bbe9f5424b04"/>
    <p:sldId xmlns:r="http://schemas.openxmlformats.org/officeDocument/2006/relationships" id="283" r:id="R488344402d314d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3e44ee4c1d4f61" /><Relationship Type="http://schemas.openxmlformats.org/officeDocument/2006/relationships/slideMaster" Target="/ppt/slideMasters/slideMaster1.xml" Id="R98e8284cfe4544f8" /><Relationship Type="http://schemas.openxmlformats.org/officeDocument/2006/relationships/notesMaster" Target="/ppt/notesMasters/notesMaster1.xml" Id="R08c7b148e79d4cde" /><Relationship Type="http://schemas.openxmlformats.org/officeDocument/2006/relationships/presProps" Target="/ppt/presProps.xml" Id="Rd83820f7f7044a18" /><Relationship Type="http://schemas.openxmlformats.org/officeDocument/2006/relationships/tableStyles" Target="/ppt/tableStyles.xml" Id="R40ba1de8a0154590" /><Relationship Type="http://schemas.openxmlformats.org/officeDocument/2006/relationships/slide" Target="/ppt/slides/slide1.xml" Id="Rbdf8b3066e204e4a" /><Relationship Type="http://schemas.openxmlformats.org/officeDocument/2006/relationships/slide" Target="/ppt/slides/slide2.xml" Id="R9143836327374b86" /><Relationship Type="http://schemas.openxmlformats.org/officeDocument/2006/relationships/slide" Target="/ppt/slides/slide3.xml" Id="Re808f9d1ddaa4e5c" /><Relationship Type="http://schemas.openxmlformats.org/officeDocument/2006/relationships/slide" Target="/ppt/slides/slide4.xml" Id="Rbf446e6cf4994880" /><Relationship Type="http://schemas.openxmlformats.org/officeDocument/2006/relationships/slide" Target="/ppt/slides/slide5.xml" Id="R0f038fed9ed74285" /><Relationship Type="http://schemas.openxmlformats.org/officeDocument/2006/relationships/slide" Target="/ppt/slides/slide6.xml" Id="R427330f980d345fa" /><Relationship Type="http://schemas.openxmlformats.org/officeDocument/2006/relationships/slide" Target="/ppt/slides/slide7.xml" Id="R0ba2a8dcd02a4ba8" /><Relationship Type="http://schemas.openxmlformats.org/officeDocument/2006/relationships/slide" Target="/ppt/slides/slide8.xml" Id="R7451aa87f9fe46a7" /><Relationship Type="http://schemas.openxmlformats.org/officeDocument/2006/relationships/slide" Target="/ppt/slides/slide9.xml" Id="R643653c7c8634300" /><Relationship Type="http://schemas.openxmlformats.org/officeDocument/2006/relationships/slide" Target="/ppt/slides/slide10.xml" Id="Ra2619bbbf8144db3" /><Relationship Type="http://schemas.openxmlformats.org/officeDocument/2006/relationships/slide" Target="/ppt/slides/slide11.xml" Id="Ref6c78132db94ae9" /><Relationship Type="http://schemas.openxmlformats.org/officeDocument/2006/relationships/slide" Target="/ppt/slides/slide12.xml" Id="R2b3bdb3e3d754ba1" /><Relationship Type="http://schemas.openxmlformats.org/officeDocument/2006/relationships/slide" Target="/ppt/slides/slide13.xml" Id="Rb239ab5748e94231" /><Relationship Type="http://schemas.openxmlformats.org/officeDocument/2006/relationships/slide" Target="/ppt/slides/slide14.xml" Id="Rfb180ebc9dab47ba" /><Relationship Type="http://schemas.openxmlformats.org/officeDocument/2006/relationships/slide" Target="/ppt/slides/slide15.xml" Id="Rd0ccbcd8811548fe" /><Relationship Type="http://schemas.openxmlformats.org/officeDocument/2006/relationships/slide" Target="/ppt/slides/slide16.xml" Id="R071d364f6ecd4b6b" /><Relationship Type="http://schemas.openxmlformats.org/officeDocument/2006/relationships/slide" Target="/ppt/slides/slide17.xml" Id="R05aa961640c84245" /><Relationship Type="http://schemas.openxmlformats.org/officeDocument/2006/relationships/slide" Target="/ppt/slides/slide18.xml" Id="R460947172d964289" /><Relationship Type="http://schemas.openxmlformats.org/officeDocument/2006/relationships/slide" Target="/ppt/slides/slide19.xml" Id="R31bbcc58b2994721" /><Relationship Type="http://schemas.openxmlformats.org/officeDocument/2006/relationships/slide" Target="/ppt/slides/slide20.xml" Id="Rfa660f1e0ffa4b31" /><Relationship Type="http://schemas.openxmlformats.org/officeDocument/2006/relationships/slide" Target="/ppt/slides/slide21.xml" Id="R0f90c4d2c8ef4d21" /><Relationship Type="http://schemas.openxmlformats.org/officeDocument/2006/relationships/slide" Target="/ppt/slides/slide22.xml" Id="Rc07484e6bae94f7f" /><Relationship Type="http://schemas.openxmlformats.org/officeDocument/2006/relationships/slide" Target="/ppt/slides/slide23.xml" Id="Rd1bdebfd539346bc" /><Relationship Type="http://schemas.openxmlformats.org/officeDocument/2006/relationships/slide" Target="/ppt/slides/slide24.xml" Id="R8eb32d9b504f4f9c" /><Relationship Type="http://schemas.openxmlformats.org/officeDocument/2006/relationships/slide" Target="/ppt/slides/slide25.xml" Id="R172823fd95684e01" /><Relationship Type="http://schemas.openxmlformats.org/officeDocument/2006/relationships/slide" Target="/ppt/slides/slide26.xml" Id="Racb55044e4a04cb6" /><Relationship Type="http://schemas.openxmlformats.org/officeDocument/2006/relationships/slide" Target="/ppt/slides/slide27.xml" Id="R26f6bbe9f5424b04" /><Relationship Type="http://schemas.openxmlformats.org/officeDocument/2006/relationships/slide" Target="/ppt/slides/slide28.xml" Id="R488344402d314d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3f40ebc2974b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2e4f0a3edb445b" /><Relationship Type="http://schemas.openxmlformats.org/officeDocument/2006/relationships/notesMaster" Target="/ppt/notesMasters/notesMaster1.xml" Id="R403d7b29f74642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09ff200c9e4162" /><Relationship Type="http://schemas.openxmlformats.org/officeDocument/2006/relationships/notesMaster" Target="/ppt/notesMasters/notesMaster1.xml" Id="Ra2c39b1152e346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1ed7a094304a2e" /><Relationship Type="http://schemas.openxmlformats.org/officeDocument/2006/relationships/notesMaster" Target="/ppt/notesMasters/notesMaster1.xml" Id="R0a94b94781c644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2537850fec4785" /><Relationship Type="http://schemas.openxmlformats.org/officeDocument/2006/relationships/notesMaster" Target="/ppt/notesMasters/notesMaster1.xml" Id="R37d2d731410f48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1940e152664a59" /><Relationship Type="http://schemas.openxmlformats.org/officeDocument/2006/relationships/notesMaster" Target="/ppt/notesMasters/notesMaster1.xml" Id="R153983e6ed9e4c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b2fdd7df784dab" /><Relationship Type="http://schemas.openxmlformats.org/officeDocument/2006/relationships/notesMaster" Target="/ppt/notesMasters/notesMaster1.xml" Id="R8b08d7965f594b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9af17bf5d6449c" /><Relationship Type="http://schemas.openxmlformats.org/officeDocument/2006/relationships/notesMaster" Target="/ppt/notesMasters/notesMaster1.xml" Id="R7c7eb2bf43304a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2578cf2fa245e1" /><Relationship Type="http://schemas.openxmlformats.org/officeDocument/2006/relationships/notesMaster" Target="/ppt/notesMasters/notesMaster1.xml" Id="R1791853a5fff40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365f8756fc489a" /><Relationship Type="http://schemas.openxmlformats.org/officeDocument/2006/relationships/notesMaster" Target="/ppt/notesMasters/notesMaster1.xml" Id="R5ae5a99d575843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21afeb09b04e04" /><Relationship Type="http://schemas.openxmlformats.org/officeDocument/2006/relationships/notesMaster" Target="/ppt/notesMasters/notesMaster1.xml" Id="R22c40416da2644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c1e02dfbfd42d0" /><Relationship Type="http://schemas.openxmlformats.org/officeDocument/2006/relationships/notesMaster" Target="/ppt/notesMasters/notesMaster1.xml" Id="R6b91185343f044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8365edded24755" /><Relationship Type="http://schemas.openxmlformats.org/officeDocument/2006/relationships/notesMaster" Target="/ppt/notesMasters/notesMaster1.xml" Id="R06bfdf22f906491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6e8785afcd5444d" /><Relationship Type="http://schemas.openxmlformats.org/officeDocument/2006/relationships/notesMaster" Target="/ppt/notesMasters/notesMaster1.xml" Id="R799a1576cde043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5702134c7be46e1" /><Relationship Type="http://schemas.openxmlformats.org/officeDocument/2006/relationships/notesMaster" Target="/ppt/notesMasters/notesMaster1.xml" Id="Rfdd91248665d459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62c6cf2ce904e2e" /><Relationship Type="http://schemas.openxmlformats.org/officeDocument/2006/relationships/notesMaster" Target="/ppt/notesMasters/notesMaster1.xml" Id="R620e6992566b438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2c0e357c8d04cd0" /><Relationship Type="http://schemas.openxmlformats.org/officeDocument/2006/relationships/notesMaster" Target="/ppt/notesMasters/notesMaster1.xml" Id="Rea78ae8c6a15468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ff35ade6886451d" /><Relationship Type="http://schemas.openxmlformats.org/officeDocument/2006/relationships/notesMaster" Target="/ppt/notesMasters/notesMaster1.xml" Id="R7bc61c0854e9484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4734782658740cc" /><Relationship Type="http://schemas.openxmlformats.org/officeDocument/2006/relationships/notesMaster" Target="/ppt/notesMasters/notesMaster1.xml" Id="R339489402a7c45c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36514185c2c43f1" /><Relationship Type="http://schemas.openxmlformats.org/officeDocument/2006/relationships/notesMaster" Target="/ppt/notesMasters/notesMaster1.xml" Id="R37764288d59042f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a885127d72f45ec" /><Relationship Type="http://schemas.openxmlformats.org/officeDocument/2006/relationships/notesMaster" Target="/ppt/notesMasters/notesMaster1.xml" Id="R7b66c7e01434480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d084826797a404f" /><Relationship Type="http://schemas.openxmlformats.org/officeDocument/2006/relationships/notesMaster" Target="/ppt/notesMasters/notesMaster1.xml" Id="Re135c3e22fd441c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bd2503da9e642be" /><Relationship Type="http://schemas.openxmlformats.org/officeDocument/2006/relationships/notesMaster" Target="/ppt/notesMasters/notesMaster1.xml" Id="R9e494e95c2b8470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342949f06ee456d" /><Relationship Type="http://schemas.openxmlformats.org/officeDocument/2006/relationships/notesMaster" Target="/ppt/notesMasters/notesMaster1.xml" Id="Raad9685cbe484cb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2c401a9288f4f19" /><Relationship Type="http://schemas.openxmlformats.org/officeDocument/2006/relationships/notesMaster" Target="/ppt/notesMasters/notesMaster1.xml" Id="Rbba0601066f9427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fa5eed5beaf4d0c" /><Relationship Type="http://schemas.openxmlformats.org/officeDocument/2006/relationships/notesMaster" Target="/ppt/notesMasters/notesMaster1.xml" Id="Rba23adaa18294c9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f2604e0ca6d4a48" /><Relationship Type="http://schemas.openxmlformats.org/officeDocument/2006/relationships/notesMaster" Target="/ppt/notesMasters/notesMaster1.xml" Id="Ra4b6c83f800a44a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09baf10aabb4b32" /><Relationship Type="http://schemas.openxmlformats.org/officeDocument/2006/relationships/notesMaster" Target="/ppt/notesMasters/notesMaster1.xml" Id="R5850d6ddc6f7485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ea312fcc8f44fd9" /><Relationship Type="http://schemas.openxmlformats.org/officeDocument/2006/relationships/notesMaster" Target="/ppt/notesMasters/notesMaster1.xml" Id="Rbc1946c692f948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첫 장에서 에이전트 개념이나 내부 용어를 설명하지 않는다. 참가자는 자기 자료 세 개를 바탕으로 AI가 무엇을 만들지 구체적으로 정하는 시간임을 바로 이해하면 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실패 원인을 프롬프트 기술 부족으로만 설명하지 않는다. 사용자가 아직 정하지 않은 수업 방식, 자료, 디자인 조합을 AI가 임의로 채운 것이 핵심 원인이다.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1차시 전체 순서를 네 단계로 압축해 제시한다. 홈페이지와 최종 결과물 목록은 이 장표에서 다루지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TRAINING, DEMO, WORKSHOP 같은 내부 층위 설명은 삭제했다. 참가자가 실제로 할 일은 세 파일을 한곳에 두고 AI가 접근할 수 있는지 확인하는 것이다.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요청문은 워크북의 긴 실행 규약을 강의 화면에 그대로 싣지 않고, 이 단계에 꼭 필요한 행동과 확인 조건만 남긴 버전이다.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각 자료가 답하는 할 질문을 분리한다. 샘플 PPT의 교육 내용을 참가자 수업으로 복사하지 않도록 강조한다.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파일을 실제로 읽었다는 근거는 사용자가 빠르게 확인할 수 있어야 한다. 화면을 렌더하지 못한 PPT는 텍스트만 확인했다고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계획서를 요약하는 것이 목적이 아니다. 목표가 활동과 결과물, 평가에서 실제로 확인되는지를 보는 것이 목적이다.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실자료 시뮬레이션에서 확인한 내용만 사용한다. 국가별 실제 수치나 최신 정치 사실은 이 단계에서 단정하지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두 자료를 통째로 비교하지 않는다. 색, 글자, 레이아웃, 형태, 그림자, 이미지, 모션으로 나누어 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현재 정치 체제 DEMO의 실제 사용자 의도를 그대로 보여준다. 폰트는 AI가 임의로 정하지 않고 사용자가 파일과 사용 조건을 확인한 뒤 확정한다.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분석 결과를 그대로 승인하지 않는다. 사용자가 틀린 해석과 빠진 내용을 먼저 바로잡아야 뒤의 방향 비교와 목차가 흔들리지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활동적, 재미있게 같은 말만 주지 않는다. 학습자 행동과 필요한 화면이 달라지는 수준으로 비교를 요청한다.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여섯 분류는 정답이나 필수 선택지가 아니다. 현재 계획서에 맞는 후보만 비교하고 필요하면 다른 방식을 추가한다.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실자료 시뮬레이션의 세 방향을 간단히 보여준다. 선택 결과는 예시일 뿐이며 참가자는 자기 계획서를 기준으로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시간이 부족하다는 이유만으로 AI가 필수 활동을 삭제하지 않는다. 활동을 줄이거나 차시를 나누는 결정은 사용자가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결정 결과를 다음 단계의 입력으로 다시 명시한다. 미정 항목은 AI가 임의로 확정하지 않게 그대로 남긴다.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조사는 자료의 양을 늘리기 위한 단계가 아니다. 목표와 활동을 실행하는 데 실제로 부족한 근거, 사례, 이미지, 평가 자료를 찾는 단계다.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외부 검색을 시작하기 전에 조사 범위와 채택 기준부터 확인한다. 사용자가 검색을 허용한 항목만 실제 조사로 넘어간다.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정치 관련 사실은 최신성과 맥락을 확인한다. 국가를 단순 서열화하거나 확인되지 않은 값을 채우지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채택 기록에는 자료, 이유, 사용할 위치를 함께 남긴다. AI가 사용 여부를 최종 판정하지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목차 제목보다 먼저 학습자의 경험 순서를 만든다. 시간은 대안을 비교할 조건이며 필수 내용을 자동 삭제하는 기준이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각 구조안은 정치 체제 시뮬레이션에서 만든 실제 비교를 쉽게 풀어쓴 것이다. 참가자는 자기 계획서의 목표와 활동을 기준으로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보기 좋은 제목보다 실제 수업에서 목표, 행동, 자료, 운영이 연결되는지를 본다. 최종 선택은 사용자에게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명세라는 용어 대신 장표별 제작 안내표를 사용한다. 목적은 AI가 제목만 보고 화면과 학습자 행동을 다시 추측하지 않게 하는 것이다.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장표별 제작 안내표의 완성 예시다. 화면 문구, 학습자 행동, 자료, 강사 설명과 연결을 한 장 안에서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화면 문구, 발표 노트, 활동지 문장을 분리한다. 같은 목표를 공유하지만 사용자와 사용 장면이 다르므로 정보량도 달라야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AI_강의제작소_1차시_교안_내용설계_v2.md, 수강생용_단계별_프롬프트_워크북_v2.md, 실자료_프롬프트_연속시뮬레이션_v2.md.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장표별 제작 안내표와 원본 자료, 디자인 조합, 폰트, 형식과 저장 정보를 확인한다. 다음 차시에는 전체 교안이 아니라 성격이 다른 두 장을 먼저 만들어 실제 화면을 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f9bdc3816448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200862faf4480f" /><Relationship Type="http://schemas.openxmlformats.org/officeDocument/2006/relationships/slideLayout" Target="/ppt/slideLayouts/slideLayout1.xml" Id="R9ab5a5d1e0de46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b5a5d1e0de46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599ccd1c34d03" /><Relationship Type="http://schemas.openxmlformats.org/officeDocument/2006/relationships/image" Target="/ppt/media/image.png" Id="R0a7dc94bb3314b8b" /><Relationship Type="http://schemas.openxmlformats.org/officeDocument/2006/relationships/notesSlide" Target="/ppt/notesSlides/notesSlide1.xml" Id="Ra0df02842c3e48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2228ba69240aa" /><Relationship Type="http://schemas.openxmlformats.org/officeDocument/2006/relationships/notesSlide" Target="/ppt/notesSlides/notesSlide2.xml" Id="R481a051488db43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2413bf7514e57" /><Relationship Type="http://schemas.openxmlformats.org/officeDocument/2006/relationships/notesSlide" Target="/ppt/notesSlides/notesSlide3.xml" Id="R0b5a33bdf3b447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2f229cc554614" /><Relationship Type="http://schemas.openxmlformats.org/officeDocument/2006/relationships/image" Target="/ppt/media/image2.png" Id="Re7e9bce0c75e4e49" /><Relationship Type="http://schemas.openxmlformats.org/officeDocument/2006/relationships/notesSlide" Target="/ppt/notesSlides/notesSlide4.xml" Id="R7669a7c3caab4c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89a4d07244405" /><Relationship Type="http://schemas.openxmlformats.org/officeDocument/2006/relationships/notesSlide" Target="/ppt/notesSlides/notesSlide5.xml" Id="R4121914ab15f43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24f0de96641b3" /><Relationship Type="http://schemas.openxmlformats.org/officeDocument/2006/relationships/notesSlide" Target="/ppt/notesSlides/notesSlide6.xml" Id="R89ed7702adcc48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234ab7e4549c5" /><Relationship Type="http://schemas.openxmlformats.org/officeDocument/2006/relationships/image" Target="/ppt/media/image3.png" Id="R8b8ad67414ed4918" /><Relationship Type="http://schemas.openxmlformats.org/officeDocument/2006/relationships/notesSlide" Target="/ppt/notesSlides/notesSlide7.xml" Id="Rf9f3a34b3a114a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28379aaa145c0" /><Relationship Type="http://schemas.openxmlformats.org/officeDocument/2006/relationships/notesSlide" Target="/ppt/notesSlides/notesSlide8.xml" Id="Re891adb0cf4c47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873a962c64a3d" /><Relationship Type="http://schemas.openxmlformats.org/officeDocument/2006/relationships/notesSlide" Target="/ppt/notesSlides/notesSlide9.xml" Id="Rb76e1575b32047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acbf5f3404d76" /><Relationship Type="http://schemas.openxmlformats.org/officeDocument/2006/relationships/notesSlide" Target="/ppt/notesSlides/notesSlide10.xml" Id="R04389d4a97394e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e5fb8725f46cc" /><Relationship Type="http://schemas.openxmlformats.org/officeDocument/2006/relationships/notesSlide" Target="/ppt/notesSlides/notesSlide11.xml" Id="R473ba6d59c2a41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1a96ca8594466" /><Relationship Type="http://schemas.openxmlformats.org/officeDocument/2006/relationships/notesSlide" Target="/ppt/notesSlides/notesSlide12.xml" Id="Reeb99e84fb6646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778418ff245e2" /><Relationship Type="http://schemas.openxmlformats.org/officeDocument/2006/relationships/notesSlide" Target="/ppt/notesSlides/notesSlide13.xml" Id="Ra7fdbcfe20f442a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0c65dc65a42f6" /><Relationship Type="http://schemas.openxmlformats.org/officeDocument/2006/relationships/notesSlide" Target="/ppt/notesSlides/notesSlide14.xml" Id="R2b627f446ad04e6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8bc3243e74240" /><Relationship Type="http://schemas.openxmlformats.org/officeDocument/2006/relationships/notesSlide" Target="/ppt/notesSlides/notesSlide15.xml" Id="Rb94b107b7d2947b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76dcc820b4355" /><Relationship Type="http://schemas.openxmlformats.org/officeDocument/2006/relationships/notesSlide" Target="/ppt/notesSlides/notesSlide16.xml" Id="R715784a9e6d440b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dfc7199f14bcb" /><Relationship Type="http://schemas.openxmlformats.org/officeDocument/2006/relationships/notesSlide" Target="/ppt/notesSlides/notesSlide17.xml" Id="R37a5c58db2734d7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f8ee9c5b24404" /><Relationship Type="http://schemas.openxmlformats.org/officeDocument/2006/relationships/image" Target="/ppt/media/image4.png" Id="Rbc59797c353342b9" /><Relationship Type="http://schemas.openxmlformats.org/officeDocument/2006/relationships/notesSlide" Target="/ppt/notesSlides/notesSlide18.xml" Id="R820cb2d702034bb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3ba42ec874911" /><Relationship Type="http://schemas.openxmlformats.org/officeDocument/2006/relationships/notesSlide" Target="/ppt/notesSlides/notesSlide19.xml" Id="R899f045d68be43d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81e9259c942fa" /><Relationship Type="http://schemas.openxmlformats.org/officeDocument/2006/relationships/notesSlide" Target="/ppt/notesSlides/notesSlide20.xml" Id="Rc887c880a1cb432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038a9c757474d" /><Relationship Type="http://schemas.openxmlformats.org/officeDocument/2006/relationships/notesSlide" Target="/ppt/notesSlides/notesSlide21.xml" Id="Rba94e0138d1c4e7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960e7da2546b6" /><Relationship Type="http://schemas.openxmlformats.org/officeDocument/2006/relationships/notesSlide" Target="/ppt/notesSlides/notesSlide22.xml" Id="R73536b59bd8b43d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53787873644e9" /><Relationship Type="http://schemas.openxmlformats.org/officeDocument/2006/relationships/notesSlide" Target="/ppt/notesSlides/notesSlide23.xml" Id="Rc6968cf3b0b04ea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593c89b0840c6" /><Relationship Type="http://schemas.openxmlformats.org/officeDocument/2006/relationships/notesSlide" Target="/ppt/notesSlides/notesSlide24.xml" Id="R5fe879ceb78b435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101cb8c6b4d14" /><Relationship Type="http://schemas.openxmlformats.org/officeDocument/2006/relationships/notesSlide" Target="/ppt/notesSlides/notesSlide25.xml" Id="Rfa599d8641f7478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a8ebeec164d0f" /><Relationship Type="http://schemas.openxmlformats.org/officeDocument/2006/relationships/notesSlide" Target="/ppt/notesSlides/notesSlide26.xml" Id="R1da593e54c4348a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0a50dfb6e46c9" /><Relationship Type="http://schemas.openxmlformats.org/officeDocument/2006/relationships/notesSlide" Target="/ppt/notesSlides/notesSlide27.xml" Id="Raa29a4d30b70458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561e5482f4d08" /><Relationship Type="http://schemas.openxmlformats.org/officeDocument/2006/relationships/notesSlide" Target="/ppt/notesSlides/notesSlide28.xml" Id="R1a0152047c4646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내 자료 3개로 AI 교안 제작 준비하기">
            <a:extLst xmlns:a="http://schemas.openxmlformats.org/drawingml/2006/main">
              <a:ext uri="{FF2B5EF4-FFF2-40B4-BE49-F238E27FC236}">
                <a16:creationId xmlns:a16="http://schemas.microsoft.com/office/drawing/2014/main" id="{14502E0D-D2C4-4F21-955B-AA8557A7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내 자료 3개로 AI 교안 제작 준비하기</a:t>
            </a:r>
          </a:p>
        </p:txBody>
      </p:sp>
      <p:sp>
        <p:nvSpPr>
          <p:cNvPr id="2" name="1차시">
            <a:extLst xmlns:a="http://schemas.openxmlformats.org/drawingml/2006/main">
              <a:ext uri="{FF2B5EF4-FFF2-40B4-BE49-F238E27FC236}">
                <a16:creationId xmlns:a16="http://schemas.microsoft.com/office/drawing/2014/main" id="{7536FFFA-A6E4-4FA1-B42C-70AFE132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1차시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EDFE39C7-F0ED-4758-821F-A949886D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01</a:t>
            </a:r>
          </a:p>
        </p:txBody>
      </p:sp>
      <p:sp>
        <p:nvSpPr>
          <p:cNvPr id="4" name="강의계획서 + design.md + 샘플 PPT">
            <a:extLst xmlns:a="http://schemas.openxmlformats.org/drawingml/2006/main">
              <a:ext uri="{FF2B5EF4-FFF2-40B4-BE49-F238E27FC236}">
                <a16:creationId xmlns:a16="http://schemas.microsoft.com/office/drawing/2014/main" id="{7CB9BF00-EA15-4CEB-B40C-EB69DF2A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3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강의계획서 + design.md + 샘플 PPT</a:t>
            </a:r>
          </a:p>
        </p:txBody>
      </p:sp>
      <p:sp>
        <p:nvSpPr>
          <p:cNvPr id="5" name="AI가 추측하지 않도록 만들 내용과 기준을 정하는 시간">
            <a:extLst xmlns:a="http://schemas.openxmlformats.org/drawingml/2006/main">
              <a:ext uri="{FF2B5EF4-FFF2-40B4-BE49-F238E27FC236}">
                <a16:creationId xmlns:a16="http://schemas.microsoft.com/office/drawing/2014/main" id="{15ED4903-5EAC-4488-AEC1-CA545EA9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6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AI가 추측하지 않도록</a:t>
            </a:r>
          </a:p>
          <a:p xmlns:a="http://schemas.openxmlformats.org/drawingml/2006/main">
            <a:pPr algn="l">
              <a:defRPr sz="26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6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만들 내용과 기준을 정하는 시간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dc94bb3314b8b"/>
          <a:stretch xmlns:a="http://schemas.openxmlformats.org/drawingml/2006/main"/>
        </p:blipFill>
        <p:spPr>
          <a:xfrm xmlns:a="http://schemas.openxmlformats.org/drawingml/2006/main">
            <a:off x="4762500" y="1400921"/>
            <a:ext cx="6953250" cy="391328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15456-E442-4340-B84D-80F3978A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153150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오늘의 결과: 다음 시간에 그대로 보낼 최종 제작 요청">
            <a:extLst xmlns:a="http://schemas.openxmlformats.org/drawingml/2006/main">
              <a:ext uri="{FF2B5EF4-FFF2-40B4-BE49-F238E27FC236}">
                <a16:creationId xmlns:a16="http://schemas.microsoft.com/office/drawing/2014/main" id="{D8380592-AF5F-4791-9E92-0783DD47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23887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오늘의 결과: 다음 시간에 그대로 보낼 최종 제작 요청</a:t>
            </a:r>
          </a:p>
        </p:txBody>
      </p:sp>
    </p:spTree>
    <p:extLst>
      <p:ext uri="{BB962C8B-B14F-4D97-AF65-F5344CB8AC3E}">
        <p14:creationId xmlns:p14="http://schemas.microsoft.com/office/powerpoint/2010/main" val="1707543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파일만 주면 AI가 알아서 만들 수 없는 이유">
            <a:extLst xmlns:a="http://schemas.openxmlformats.org/drawingml/2006/main">
              <a:ext uri="{FF2B5EF4-FFF2-40B4-BE49-F238E27FC236}">
                <a16:creationId xmlns:a16="http://schemas.microsoft.com/office/drawing/2014/main" id="{A8018620-E5C4-4A32-B1A5-57249F10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0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파일만 주면 AI가 알아서 만들 수 없는 이유</a:t>
            </a:r>
          </a:p>
        </p:txBody>
      </p:sp>
      <p:sp>
        <p:nvSpPr>
          <p:cNvPr id="2" name="왜?">
            <a:extLst xmlns:a="http://schemas.openxmlformats.org/drawingml/2006/main">
              <a:ext uri="{FF2B5EF4-FFF2-40B4-BE49-F238E27FC236}">
                <a16:creationId xmlns:a16="http://schemas.microsoft.com/office/drawing/2014/main" id="{C2033698-1E18-41F4-A8AF-D1EAE9FA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왜?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BFE71859-B27E-4D8F-92EC-4BE45477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02</a:t>
            </a:r>
          </a:p>
        </p:txBody>
      </p:sp>
      <p:sp>
        <p:nvSpPr>
          <p:cNvPr id="4" name="세 파일에는 없는 결정">
            <a:extLst xmlns:a="http://schemas.openxmlformats.org/drawingml/2006/main">
              <a:ext uri="{FF2B5EF4-FFF2-40B4-BE49-F238E27FC236}">
                <a16:creationId xmlns:a16="http://schemas.microsoft.com/office/drawing/2014/main" id="{672D5736-1B50-4C9A-9DF8-30A8B195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1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세 파일에는 없는 결정</a:t>
            </a:r>
          </a:p>
        </p:txBody>
      </p:sp>
      <p:sp>
        <p:nvSpPr>
          <p:cNvPr id="5" name="수업 방식">
            <a:extLst xmlns:a="http://schemas.openxmlformats.org/drawingml/2006/main">
              <a:ext uri="{FF2B5EF4-FFF2-40B4-BE49-F238E27FC236}">
                <a16:creationId xmlns:a16="http://schemas.microsoft.com/office/drawing/2014/main" id="{2B0AE126-4A32-419B-8FD1-AEF0A984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3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수업 방식</a:t>
            </a:r>
          </a:p>
        </p:txBody>
      </p:sp>
      <p:sp>
        <p:nvSpPr>
          <p:cNvPr id="6" name="설명 중심인지, 실습이나 프로젝트 중심인지">
            <a:extLst xmlns:a="http://schemas.openxmlformats.org/drawingml/2006/main">
              <a:ext uri="{FF2B5EF4-FFF2-40B4-BE49-F238E27FC236}">
                <a16:creationId xmlns:a16="http://schemas.microsoft.com/office/drawing/2014/main" id="{37ECECE7-785F-4F47-BD01-EA5C5009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145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설명 중심인지, 실습이나 프로젝트 중심인지</a:t>
            </a:r>
          </a:p>
        </p:txBody>
      </p:sp>
      <p:sp>
        <p:nvSpPr>
          <p:cNvPr id="7" name="자료 선택">
            <a:extLst xmlns:a="http://schemas.openxmlformats.org/drawingml/2006/main">
              <a:ext uri="{FF2B5EF4-FFF2-40B4-BE49-F238E27FC236}">
                <a16:creationId xmlns:a16="http://schemas.microsoft.com/office/drawing/2014/main" id="{A4DFC657-A0CF-40AA-B94D-8AA3F1CE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233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자료 선택</a:t>
            </a:r>
          </a:p>
        </p:txBody>
      </p:sp>
      <p:sp>
        <p:nvSpPr>
          <p:cNvPr id="8" name="어떤 사례와 출처를 실제로 쓸지">
            <a:extLst xmlns:a="http://schemas.openxmlformats.org/drawingml/2006/main">
              <a:ext uri="{FF2B5EF4-FFF2-40B4-BE49-F238E27FC236}">
                <a16:creationId xmlns:a16="http://schemas.microsoft.com/office/drawing/2014/main" id="{E483A078-A0F1-4694-8A0A-A91E2404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9925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어떤 사례와 출처를 실제로 쓸지</a:t>
            </a:r>
          </a:p>
        </p:txBody>
      </p:sp>
      <p:sp>
        <p:nvSpPr>
          <p:cNvPr id="9" name="디자인 조합">
            <a:extLst xmlns:a="http://schemas.openxmlformats.org/drawingml/2006/main">
              <a:ext uri="{FF2B5EF4-FFF2-40B4-BE49-F238E27FC236}">
                <a16:creationId xmlns:a16="http://schemas.microsoft.com/office/drawing/2014/main" id="{E2E8964B-8683-4A39-B69E-05F56817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33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디자인 조합</a:t>
            </a:r>
          </a:p>
        </p:txBody>
      </p:sp>
      <p:sp>
        <p:nvSpPr>
          <p:cNvPr id="10" name="샘플의 형태와 design.md의 색을 어떻게 섞을지">
            <a:extLst xmlns:a="http://schemas.openxmlformats.org/drawingml/2006/main">
              <a:ext uri="{FF2B5EF4-FFF2-40B4-BE49-F238E27FC236}">
                <a16:creationId xmlns:a16="http://schemas.microsoft.com/office/drawing/2014/main" id="{50E602BB-9E73-4EEA-8AA7-31306A0D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053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샘플의 형태와 design.md의 색을 어떻게 섞을지</a:t>
            </a:r>
          </a:p>
        </p:txBody>
      </p:sp>
      <p:sp>
        <p:nvSpPr>
          <p:cNvPr id="11" name="이 결정이 없으면 AI가 대신 추측하고, 결과가 마음에 들지 않게 됩니다">
            <a:extLst xmlns:a="http://schemas.openxmlformats.org/drawingml/2006/main">
              <a:ext uri="{FF2B5EF4-FFF2-40B4-BE49-F238E27FC236}">
                <a16:creationId xmlns:a16="http://schemas.microsoft.com/office/drawing/2014/main" id="{505D70F7-91B0-4BE2-B10C-A11A386A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76875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이 결정이 없으면 AI가 대신 추측하고, 결과가 마음에 들지 않게 됩니다</a:t>
            </a:r>
          </a:p>
        </p:txBody>
      </p:sp>
    </p:spTree>
    <p:extLst>
      <p:ext uri="{BB962C8B-B14F-4D97-AF65-F5344CB8AC3E}">
        <p14:creationId xmlns:p14="http://schemas.microsoft.com/office/powerpoint/2010/main" val="896013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오늘 정할 네 가지">
            <a:extLst xmlns:a="http://schemas.openxmlformats.org/drawingml/2006/main">
              <a:ext uri="{FF2B5EF4-FFF2-40B4-BE49-F238E27FC236}">
                <a16:creationId xmlns:a16="http://schemas.microsoft.com/office/drawing/2014/main" id="{AE7AFB5F-66C7-419A-BA64-9A03A41C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오늘 정할 네 가지</a:t>
            </a:r>
          </a:p>
        </p:txBody>
      </p:sp>
      <p:sp>
        <p:nvSpPr>
          <p:cNvPr id="2" name="안내">
            <a:extLst xmlns:a="http://schemas.openxmlformats.org/drawingml/2006/main">
              <a:ext uri="{FF2B5EF4-FFF2-40B4-BE49-F238E27FC236}">
                <a16:creationId xmlns:a16="http://schemas.microsoft.com/office/drawing/2014/main" id="{53918544-59B7-413E-BCB1-687AC280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안내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59EAE87E-F807-4D8E-90CA-19C3B7DD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03</a:t>
            </a:r>
          </a:p>
        </p:txBody>
      </p:sp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EF07192D-F822-44FB-8633-802F5196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45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FFFFFF"/>
                </a:solidFill>
                <a:latin typeface="GriunXHangeul OCHUNGI.KIM"/>
                <a:ea typeface="GriunXHangeul OCHUNGI.KIM"/>
                <a:cs typeface="GriunXHangeul OCHUNGI.KIM"/>
              </a:rPr>
              <a:t>1</a:t>
            </a:r>
          </a:p>
        </p:txBody>
      </p:sp>
      <p:sp>
        <p:nvSpPr>
          <p:cNvPr id="5" name="자료 확인">
            <a:extLst xmlns:a="http://schemas.openxmlformats.org/drawingml/2006/main">
              <a:ext uri="{FF2B5EF4-FFF2-40B4-BE49-F238E27FC236}">
                <a16:creationId xmlns:a16="http://schemas.microsoft.com/office/drawing/2014/main" id="{4B927709-3442-4C53-9FDB-03CEE52F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0970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자료 확인</a:t>
            </a:r>
          </a:p>
        </p:txBody>
      </p:sp>
      <p:sp>
        <p:nvSpPr>
          <p:cNvPr id="6" name="AI가 세 파일을 실제로 읽었는지 확인한다">
            <a:extLst xmlns:a="http://schemas.openxmlformats.org/drawingml/2006/main">
              <a:ext uri="{FF2B5EF4-FFF2-40B4-BE49-F238E27FC236}">
                <a16:creationId xmlns:a16="http://schemas.microsoft.com/office/drawing/2014/main" id="{4880AC9E-C6E4-489C-B99A-5052D1EE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409700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AI가 세 파일을 실제로 읽었는지 확인한다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21940040-478F-4EEF-8C93-77B07728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03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E83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FFFFFF"/>
                </a:solidFill>
                <a:latin typeface="GriunXHangeul OCHUNGI.KIM"/>
                <a:ea typeface="GriunXHangeul OCHUNGI.KIM"/>
                <a:cs typeface="GriunXHangeul OCHUNGI.KIM"/>
              </a:rPr>
              <a:t>2</a:t>
            </a:r>
          </a:p>
        </p:txBody>
      </p:sp>
      <p:sp>
        <p:nvSpPr>
          <p:cNvPr id="8" name="수업 방식">
            <a:extLst xmlns:a="http://schemas.openxmlformats.org/drawingml/2006/main">
              <a:ext uri="{FF2B5EF4-FFF2-40B4-BE49-F238E27FC236}">
                <a16:creationId xmlns:a16="http://schemas.microsoft.com/office/drawing/2014/main" id="{09A325CD-0595-47C4-91A1-B42600C5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수업 방식</a:t>
            </a:r>
          </a:p>
        </p:txBody>
      </p:sp>
      <p:sp>
        <p:nvSpPr>
          <p:cNvPr id="9" name="학습자가 주로 무엇을 하게 할지 고른다">
            <a:extLst xmlns:a="http://schemas.openxmlformats.org/drawingml/2006/main">
              <a:ext uri="{FF2B5EF4-FFF2-40B4-BE49-F238E27FC236}">
                <a16:creationId xmlns:a16="http://schemas.microsoft.com/office/drawing/2014/main" id="{1A9E5F45-0BD3-4DB3-81E9-9E1D6319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학습자가 주로 무엇을 하게 할지 고른다</a:t>
            </a:r>
          </a:p>
        </p:txBody>
      </p:sp>
      <p:sp>
        <p:nvSpPr>
          <p:cNvPr id="10" name="3">
            <a:extLst xmlns:a="http://schemas.openxmlformats.org/drawingml/2006/main">
              <a:ext uri="{FF2B5EF4-FFF2-40B4-BE49-F238E27FC236}">
                <a16:creationId xmlns:a16="http://schemas.microsoft.com/office/drawing/2014/main" id="{768BE8D9-4EF8-4A30-AE8B-5176A8B0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718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E83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FFFFFF"/>
                </a:solidFill>
                <a:latin typeface="GriunXHangeul OCHUNGI.KIM"/>
                <a:ea typeface="GriunXHangeul OCHUNGI.KIM"/>
                <a:cs typeface="GriunXHangeul OCHUNGI.KIM"/>
              </a:rPr>
              <a:t>3</a:t>
            </a:r>
          </a:p>
        </p:txBody>
      </p:sp>
      <p:sp>
        <p:nvSpPr>
          <p:cNvPr id="11" name="필요한 조사">
            <a:extLst xmlns:a="http://schemas.openxmlformats.org/drawingml/2006/main">
              <a:ext uri="{FF2B5EF4-FFF2-40B4-BE49-F238E27FC236}">
                <a16:creationId xmlns:a16="http://schemas.microsoft.com/office/drawing/2014/main" id="{E7D86ECA-FAA1-4D02-A9A5-ECEE1516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필요한 조사</a:t>
            </a:r>
          </a:p>
        </p:txBody>
      </p:sp>
      <p:sp>
        <p:nvSpPr>
          <p:cNvPr id="12" name="어느 장면에 쓸 자료가 부족한지 찾는다">
            <a:extLst xmlns:a="http://schemas.openxmlformats.org/drawingml/2006/main">
              <a:ext uri="{FF2B5EF4-FFF2-40B4-BE49-F238E27FC236}">
                <a16:creationId xmlns:a16="http://schemas.microsoft.com/office/drawing/2014/main" id="{C53323A6-6067-4778-B02A-28899451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52800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어느 장면에 쓸 자료가 부족한지 찾는다</a:t>
            </a:r>
          </a:p>
        </p:txBody>
      </p:sp>
      <p:sp>
        <p:nvSpPr>
          <p:cNvPr id="13" name="4">
            <a:extLst xmlns:a="http://schemas.openxmlformats.org/drawingml/2006/main">
              <a:ext uri="{FF2B5EF4-FFF2-40B4-BE49-F238E27FC236}">
                <a16:creationId xmlns:a16="http://schemas.microsoft.com/office/drawing/2014/main" id="{9B740DF2-CC7D-4317-AFC7-C4C68019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434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E83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FFFFFF"/>
                </a:solidFill>
                <a:latin typeface="GriunXHangeul OCHUNGI.KIM"/>
                <a:ea typeface="GriunXHangeul OCHUNGI.KIM"/>
                <a:cs typeface="GriunXHangeul OCHUNGI.KIM"/>
              </a:rPr>
              <a:t>4</a:t>
            </a:r>
          </a:p>
        </p:txBody>
      </p:sp>
      <p:sp>
        <p:nvSpPr>
          <p:cNvPr id="14" name="장표별 제작 안내">
            <a:extLst xmlns:a="http://schemas.openxmlformats.org/drawingml/2006/main">
              <a:ext uri="{FF2B5EF4-FFF2-40B4-BE49-F238E27FC236}">
                <a16:creationId xmlns:a16="http://schemas.microsoft.com/office/drawing/2014/main" id="{874A58FB-F18D-445B-9F98-C77301FC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2435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장표별 제작 안내</a:t>
            </a:r>
          </a:p>
        </p:txBody>
      </p:sp>
      <p:sp>
        <p:nvSpPr>
          <p:cNvPr id="15" name="각 장표에 무엇을 보여주고 무엇을 하게 할지 적는다">
            <a:extLst xmlns:a="http://schemas.openxmlformats.org/drawingml/2006/main">
              <a:ext uri="{FF2B5EF4-FFF2-40B4-BE49-F238E27FC236}">
                <a16:creationId xmlns:a16="http://schemas.microsoft.com/office/drawing/2014/main" id="{6D5393B5-D80C-4A80-A440-9466F402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24350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각 장표에 무엇을 보여주고 무엇을 하게 할지 적는다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345D52-97B9-4CF6-A912-B792A334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153150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네 가지를 정하면 다음 시간에 AI가 바로 제작을 시작할 수 있습니다">
            <a:extLst xmlns:a="http://schemas.openxmlformats.org/drawingml/2006/main">
              <a:ext uri="{FF2B5EF4-FFF2-40B4-BE49-F238E27FC236}">
                <a16:creationId xmlns:a16="http://schemas.microsoft.com/office/drawing/2014/main" id="{C16F28ED-A760-444D-8A7F-71FCB84F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23887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네 가지를 정하면 다음 시간에 AI가 바로 제작을 시작할 수 있습니다</a:t>
            </a:r>
          </a:p>
        </p:txBody>
      </p:sp>
    </p:spTree>
    <p:extLst>
      <p:ext uri="{BB962C8B-B14F-4D97-AF65-F5344CB8AC3E}">
        <p14:creationId xmlns:p14="http://schemas.microsoft.com/office/powerpoint/2010/main" val="9061574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먼저 세 파일을 한곳에 준비하기">
            <a:extLst xmlns:a="http://schemas.openxmlformats.org/drawingml/2006/main">
              <a:ext uri="{FF2B5EF4-FFF2-40B4-BE49-F238E27FC236}">
                <a16:creationId xmlns:a16="http://schemas.microsoft.com/office/drawing/2014/main" id="{5D6E17CD-08F3-434A-A4F0-6812055B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먼저 세 파일을 한곳에 준비하기</a:t>
            </a:r>
          </a:p>
        </p:txBody>
      </p:sp>
      <p:sp>
        <p:nvSpPr>
          <p:cNvPr id="2" name="따라하기">
            <a:extLst xmlns:a="http://schemas.openxmlformats.org/drawingml/2006/main">
              <a:ext uri="{FF2B5EF4-FFF2-40B4-BE49-F238E27FC236}">
                <a16:creationId xmlns:a16="http://schemas.microsoft.com/office/drawing/2014/main" id="{2E6A7205-4268-43BD-B6EE-4D4512A2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따라하기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FEB696B6-E672-47FE-A087-179F6C30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04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9bce0c75e4e49"/>
          <a:stretch xmlns:a="http://schemas.openxmlformats.org/drawingml/2006/main"/>
        </p:blipFill>
        <p:spPr>
          <a:xfrm xmlns:a="http://schemas.openxmlformats.org/drawingml/2006/main">
            <a:off x="5238750" y="1401035"/>
            <a:ext cx="6191250" cy="3484430"/>
          </a:xfrm>
          <a:prstGeom xmlns:a="http://schemas.openxmlformats.org/drawingml/2006/main" prst="rect">
            <a:avLst/>
          </a:prstGeom>
        </p:spPr>
      </p:pic>
      <p:sp>
        <p:nvSpPr>
          <p:cNvPr id="5" name="1  강의계획서">
            <a:extLst xmlns:a="http://schemas.openxmlformats.org/drawingml/2006/main">
              <a:ext uri="{FF2B5EF4-FFF2-40B4-BE49-F238E27FC236}">
                <a16:creationId xmlns:a16="http://schemas.microsoft.com/office/drawing/2014/main" id="{9F510A59-80EC-462F-9617-308CE40E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42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1  강의계획서</a:t>
            </a:r>
          </a:p>
        </p:txBody>
      </p:sp>
      <p:sp>
        <p:nvSpPr>
          <p:cNvPr id="6" name="수업 대상과 목표가 적힌 파일">
            <a:extLst xmlns:a="http://schemas.openxmlformats.org/drawingml/2006/main">
              <a:ext uri="{FF2B5EF4-FFF2-40B4-BE49-F238E27FC236}">
                <a16:creationId xmlns:a16="http://schemas.microsoft.com/office/drawing/2014/main" id="{1CFC034C-4907-4139-9CF6-7C20F3A7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217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수업 대상과 목표가 적힌 파일</a:t>
            </a:r>
          </a:p>
        </p:txBody>
      </p:sp>
      <p:sp>
        <p:nvSpPr>
          <p:cNvPr id="7" name="2  design.md">
            <a:extLst xmlns:a="http://schemas.openxmlformats.org/drawingml/2006/main">
              <a:ext uri="{FF2B5EF4-FFF2-40B4-BE49-F238E27FC236}">
                <a16:creationId xmlns:a16="http://schemas.microsoft.com/office/drawing/2014/main" id="{FABB6925-5345-4942-ACA2-0980B7CB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342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2  design.md</a:t>
            </a:r>
          </a:p>
        </p:txBody>
      </p:sp>
      <p:sp>
        <p:nvSpPr>
          <p:cNvPr id="8" name="색과 글자 같은 디자인 규칙">
            <a:extLst xmlns:a="http://schemas.openxmlformats.org/drawingml/2006/main">
              <a:ext uri="{FF2B5EF4-FFF2-40B4-BE49-F238E27FC236}">
                <a16:creationId xmlns:a16="http://schemas.microsoft.com/office/drawing/2014/main" id="{ED7420EC-D74A-465C-B4F8-94F6B987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색과 글자 같은 디자인 규칙</a:t>
            </a:r>
          </a:p>
        </p:txBody>
      </p:sp>
      <p:sp>
        <p:nvSpPr>
          <p:cNvPr id="9" name="3  샘플 PPT">
            <a:extLst xmlns:a="http://schemas.openxmlformats.org/drawingml/2006/main">
              <a:ext uri="{FF2B5EF4-FFF2-40B4-BE49-F238E27FC236}">
                <a16:creationId xmlns:a16="http://schemas.microsoft.com/office/drawing/2014/main" id="{3A0E051D-7A68-4186-91B3-821BE46C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342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3  샘플 PPT</a:t>
            </a:r>
          </a:p>
        </p:txBody>
      </p:sp>
      <p:sp>
        <p:nvSpPr>
          <p:cNvPr id="10" name="따라 쓰고 싶은 화면 구성">
            <a:extLst xmlns:a="http://schemas.openxmlformats.org/drawingml/2006/main">
              <a:ext uri="{FF2B5EF4-FFF2-40B4-BE49-F238E27FC236}">
                <a16:creationId xmlns:a16="http://schemas.microsoft.com/office/drawing/2014/main" id="{B2601589-CF19-4C36-A9E3-B54DC783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4342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따라 쓰고 싶은 화면 구성</a:t>
            </a:r>
          </a:p>
        </p:txBody>
      </p:sp>
      <p:sp>
        <p:nvSpPr>
          <p:cNvPr id="11" name="지금 할 일  세 파일을 열고 파일명을 확인한다">
            <a:extLst xmlns:a="http://schemas.openxmlformats.org/drawingml/2006/main">
              <a:ext uri="{FF2B5EF4-FFF2-40B4-BE49-F238E27FC236}">
                <a16:creationId xmlns:a16="http://schemas.microsoft.com/office/drawing/2014/main" id="{B91C507B-7003-48A5-A7DB-13FB638A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76875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지금 할 일  세 파일을 열고 파일명을 확인한다</a:t>
            </a:r>
          </a:p>
        </p:txBody>
      </p:sp>
    </p:spTree>
    <p:extLst>
      <p:ext uri="{BB962C8B-B14F-4D97-AF65-F5344CB8AC3E}">
        <p14:creationId xmlns:p14="http://schemas.microsoft.com/office/powerpoint/2010/main" val="19689593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첫 요청: 세 파일을 실제로 읽게 하기">
            <a:extLst xmlns:a="http://schemas.openxmlformats.org/drawingml/2006/main">
              <a:ext uri="{FF2B5EF4-FFF2-40B4-BE49-F238E27FC236}">
                <a16:creationId xmlns:a16="http://schemas.microsoft.com/office/drawing/2014/main" id="{426700AB-B316-4409-9580-F3FDDD05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첫 요청: 세 파일을 실제로 읽게 하기</a:t>
            </a:r>
          </a:p>
        </p:txBody>
      </p:sp>
      <p:sp>
        <p:nvSpPr>
          <p:cNvPr id="2" name="따라하기">
            <a:extLst xmlns:a="http://schemas.openxmlformats.org/drawingml/2006/main">
              <a:ext uri="{FF2B5EF4-FFF2-40B4-BE49-F238E27FC236}">
                <a16:creationId xmlns:a16="http://schemas.microsoft.com/office/drawing/2014/main" id="{69490FC1-C5E5-4ADB-862D-6DC7955D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따라하기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E4B7A6C2-4126-479C-A8BE-F529AB33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05</a:t>
            </a:r>
          </a:p>
        </p:txBody>
      </p:sp>
      <p:sp>
        <p:nvSpPr>
          <p:cNvPr id="4" name="복사해서 사용">
            <a:extLst xmlns:a="http://schemas.openxmlformats.org/drawingml/2006/main">
              <a:ext uri="{FF2B5EF4-FFF2-40B4-BE49-F238E27FC236}">
                <a16:creationId xmlns:a16="http://schemas.microsoft.com/office/drawing/2014/main" id="{C8AE0928-088B-4757-8054-352A1BA8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573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복사해서 사용</a:t>
            </a:r>
          </a:p>
        </p:txBody>
      </p:sp>
      <p:sp>
        <p:nvSpPr>
          <p:cNvPr id="5" name="첨부한 강의계획서, design.md, 샘플 PPT를 실제로 열어 확인해줘.  계획서에서는 학습자·">
            <a:extLst xmlns:a="http://schemas.openxmlformats.org/drawingml/2006/main">
              <a:ext uri="{FF2B5EF4-FFF2-40B4-BE49-F238E27FC236}">
                <a16:creationId xmlns:a16="http://schemas.microsoft.com/office/drawing/2014/main" id="{70AF9EE5-A079-46A3-AE48-9D77ED21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09550" tIns="209550" rIns="209550" bIns="2095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첨부한 강의계획서, design.md, 샘플 PPT를 실제로 열어 확인해줘.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계획서에서는 학습자·목표·활동·결과물·평가·차시를,</a:t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design.md에서는 색·글꼴·여백·형태를,</a:t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샘플 PPT에서는 비율·글자 크기·정보량·배치를 확인해줘.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확인한 페이지·표·장표 번호·제목을 근거로 적고,</a:t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못 연 자료는 '미확인'으로 표시해줘.</a:t>
            </a:r>
          </a:p>
        </p:txBody>
      </p:sp>
      <p:sp>
        <p:nvSpPr>
          <p:cNvPr id="6" name="실습  내 파일을 첨부하고 이 요청을 보낸다">
            <a:extLst xmlns:a="http://schemas.openxmlformats.org/drawingml/2006/main">
              <a:ext uri="{FF2B5EF4-FFF2-40B4-BE49-F238E27FC236}">
                <a16:creationId xmlns:a16="http://schemas.microsoft.com/office/drawing/2014/main" id="{FA239EAC-77A9-463C-9FCF-96C83983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86375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  내 파일을 첨부하고 이 요청을 보낸다</a:t>
            </a:r>
          </a:p>
        </p:txBody>
      </p:sp>
    </p:spTree>
    <p:extLst>
      <p:ext uri="{BB962C8B-B14F-4D97-AF65-F5344CB8AC3E}">
        <p14:creationId xmlns:p14="http://schemas.microsoft.com/office/powerpoint/2010/main" val="13122534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세 파일은 각각 다른 일을 한다">
            <a:extLst xmlns:a="http://schemas.openxmlformats.org/drawingml/2006/main">
              <a:ext uri="{FF2B5EF4-FFF2-40B4-BE49-F238E27FC236}">
                <a16:creationId xmlns:a16="http://schemas.microsoft.com/office/drawing/2014/main" id="{24DA2F9A-1EF3-458A-BB2E-9ABAED29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세 파일은 각각 다른 일을 한다</a:t>
            </a:r>
          </a:p>
        </p:txBody>
      </p:sp>
      <p:sp>
        <p:nvSpPr>
          <p:cNvPr id="2" name="설명">
            <a:extLst xmlns:a="http://schemas.openxmlformats.org/drawingml/2006/main">
              <a:ext uri="{FF2B5EF4-FFF2-40B4-BE49-F238E27FC236}">
                <a16:creationId xmlns:a16="http://schemas.microsoft.com/office/drawing/2014/main" id="{36C7CDF7-E557-4258-B1DC-5138DFA1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설명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8E8726AC-F197-4422-8303-C71B3D78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06</a:t>
            </a:r>
          </a:p>
        </p:txBody>
      </p:sp>
      <p:sp>
        <p:nvSpPr>
          <p:cNvPr id="4" name="강의계획서">
            <a:extLst xmlns:a="http://schemas.openxmlformats.org/drawingml/2006/main">
              <a:ext uri="{FF2B5EF4-FFF2-40B4-BE49-F238E27FC236}">
                <a16:creationId xmlns:a16="http://schemas.microsoft.com/office/drawing/2014/main" id="{F5E86C9E-C48A-4F25-BC75-AE39C3A4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강의계획서</a:t>
            </a:r>
          </a:p>
        </p:txBody>
      </p:sp>
      <p:sp>
        <p:nvSpPr>
          <p:cNvPr id="5" name="무엇을 가르치고 무엇을 하게 할까">
            <a:extLst xmlns:a="http://schemas.openxmlformats.org/drawingml/2006/main">
              <a:ext uri="{FF2B5EF4-FFF2-40B4-BE49-F238E27FC236}">
                <a16:creationId xmlns:a16="http://schemas.microsoft.com/office/drawing/2014/main" id="{5D88F452-9E33-450B-840E-171AF5F5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24000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무엇을 가르치고 무엇을 하게 할까</a:t>
            </a:r>
          </a:p>
        </p:txBody>
      </p:sp>
      <p:sp>
        <p:nvSpPr>
          <p:cNvPr id="6" name="내용과 수업 활동">
            <a:extLst xmlns:a="http://schemas.openxmlformats.org/drawingml/2006/main">
              <a:ext uri="{FF2B5EF4-FFF2-40B4-BE49-F238E27FC236}">
                <a16:creationId xmlns:a16="http://schemas.microsoft.com/office/drawing/2014/main" id="{39706ABC-1926-440B-A8C4-95BFA4B9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24000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내용과 수업 활동</a:t>
            </a:r>
          </a:p>
        </p:txBody>
      </p:sp>
      <p:sp>
        <p:nvSpPr>
          <p:cNvPr id="7" name="design.md">
            <a:extLst xmlns:a="http://schemas.openxmlformats.org/drawingml/2006/main">
              <a:ext uri="{FF2B5EF4-FFF2-40B4-BE49-F238E27FC236}">
                <a16:creationId xmlns:a16="http://schemas.microsoft.com/office/drawing/2014/main" id="{486A93C3-E5D0-4B99-B481-998BF0CA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design.md</a:t>
            </a:r>
          </a:p>
        </p:txBody>
      </p:sp>
      <p:sp>
        <p:nvSpPr>
          <p:cNvPr id="8" name="어떤 색·글자·형태를 쓸까">
            <a:extLst xmlns:a="http://schemas.openxmlformats.org/drawingml/2006/main">
              <a:ext uri="{FF2B5EF4-FFF2-40B4-BE49-F238E27FC236}">
                <a16:creationId xmlns:a16="http://schemas.microsoft.com/office/drawing/2014/main" id="{38774BF9-E557-4082-A33C-4DB8FAE5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05125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어떤 색·글자·형태를 쓸까</a:t>
            </a:r>
          </a:p>
        </p:txBody>
      </p:sp>
      <p:sp>
        <p:nvSpPr>
          <p:cNvPr id="9" name="시각 규칙">
            <a:extLst xmlns:a="http://schemas.openxmlformats.org/drawingml/2006/main">
              <a:ext uri="{FF2B5EF4-FFF2-40B4-BE49-F238E27FC236}">
                <a16:creationId xmlns:a16="http://schemas.microsoft.com/office/drawing/2014/main" id="{A7205061-C2EA-4DB8-AA4E-3FF08AE0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05125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시각 규칙</a:t>
            </a:r>
          </a:p>
        </p:txBody>
      </p:sp>
      <p:sp>
        <p:nvSpPr>
          <p:cNvPr id="10" name="샘플 PPT">
            <a:extLst xmlns:a="http://schemas.openxmlformats.org/drawingml/2006/main">
              <a:ext uri="{FF2B5EF4-FFF2-40B4-BE49-F238E27FC236}">
                <a16:creationId xmlns:a16="http://schemas.microsoft.com/office/drawing/2014/main" id="{489300C4-9C94-4CE6-8073-3B74F43E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샘플 PPT</a:t>
            </a:r>
          </a:p>
        </p:txBody>
      </p:sp>
      <p:sp>
        <p:nvSpPr>
          <p:cNvPr id="11" name="한 화면에 어떻게 배치할까">
            <a:extLst xmlns:a="http://schemas.openxmlformats.org/drawingml/2006/main">
              <a:ext uri="{FF2B5EF4-FFF2-40B4-BE49-F238E27FC236}">
                <a16:creationId xmlns:a16="http://schemas.microsoft.com/office/drawing/2014/main" id="{718E1F36-15DE-4837-AC33-1CE7AF0C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86250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한 화면에 어떻게 배치할까</a:t>
            </a:r>
          </a:p>
        </p:txBody>
      </p:sp>
      <p:sp>
        <p:nvSpPr>
          <p:cNvPr id="12" name="비율·정보량·레이아웃">
            <a:extLst xmlns:a="http://schemas.openxmlformats.org/drawingml/2006/main">
              <a:ext uri="{FF2B5EF4-FFF2-40B4-BE49-F238E27FC236}">
                <a16:creationId xmlns:a16="http://schemas.microsoft.com/office/drawing/2014/main" id="{75C18910-E55B-4960-9163-4B5317B3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86250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비율·정보량·레이아웃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7C4B5-E920-4DCB-9910-A8E5F9B7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153150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수업 내용은 샘플 PPT에서 가져오지 않습니다">
            <a:extLst xmlns:a="http://schemas.openxmlformats.org/drawingml/2006/main">
              <a:ext uri="{FF2B5EF4-FFF2-40B4-BE49-F238E27FC236}">
                <a16:creationId xmlns:a16="http://schemas.microsoft.com/office/drawing/2014/main" id="{355FA3A9-4E8B-419E-83F2-DDCE691D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23887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수업 내용은 샘플 PPT에서 가져오지 않습니다</a:t>
            </a:r>
          </a:p>
        </p:txBody>
      </p:sp>
    </p:spTree>
    <p:extLst>
      <p:ext uri="{BB962C8B-B14F-4D97-AF65-F5344CB8AC3E}">
        <p14:creationId xmlns:p14="http://schemas.microsoft.com/office/powerpoint/2010/main" val="6907656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I가 파일을 정말 읽었는지 확인하는 법">
            <a:extLst xmlns:a="http://schemas.openxmlformats.org/drawingml/2006/main">
              <a:ext uri="{FF2B5EF4-FFF2-40B4-BE49-F238E27FC236}">
                <a16:creationId xmlns:a16="http://schemas.microsoft.com/office/drawing/2014/main" id="{125E0662-91DE-4ADD-BB86-178AF696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AI가 파일을 정말 읽었는지 확인하는 법</a:t>
            </a:r>
          </a:p>
        </p:txBody>
      </p:sp>
      <p:sp>
        <p:nvSpPr>
          <p:cNvPr id="2" name="따라하기">
            <a:extLst xmlns:a="http://schemas.openxmlformats.org/drawingml/2006/main">
              <a:ext uri="{FF2B5EF4-FFF2-40B4-BE49-F238E27FC236}">
                <a16:creationId xmlns:a16="http://schemas.microsoft.com/office/drawing/2014/main" id="{A4937AB7-58E7-4AD7-AD2E-69C30B6D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따라하기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94AA504F-0F61-4C33-8A34-34DA0DD0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07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8ad67414ed4918"/>
          <a:stretch xmlns:a="http://schemas.openxmlformats.org/drawingml/2006/main"/>
        </p:blipFill>
        <p:spPr>
          <a:xfrm xmlns:a="http://schemas.openxmlformats.org/drawingml/2006/main">
            <a:off x="4975876" y="1219200"/>
            <a:ext cx="6431248" cy="3619500"/>
          </a:xfrm>
          <a:prstGeom xmlns:a="http://schemas.openxmlformats.org/drawingml/2006/main" prst="rect">
            <a:avLst/>
          </a:prstGeom>
        </p:spPr>
      </p:pic>
      <p:sp>
        <p:nvSpPr>
          <p:cNvPr id="5" name="DOCX">
            <a:extLst xmlns:a="http://schemas.openxmlformats.org/drawingml/2006/main">
              <a:ext uri="{FF2B5EF4-FFF2-40B4-BE49-F238E27FC236}">
                <a16:creationId xmlns:a16="http://schemas.microsoft.com/office/drawing/2014/main" id="{EE372CCB-A485-408B-8A50-6819BF24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762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DOCX</a:t>
            </a:r>
          </a:p>
        </p:txBody>
      </p:sp>
      <p:sp>
        <p:nvSpPr>
          <p:cNvPr id="6" name="페이지·표·문단 위치">
            <a:extLst xmlns:a="http://schemas.openxmlformats.org/drawingml/2006/main">
              <a:ext uri="{FF2B5EF4-FFF2-40B4-BE49-F238E27FC236}">
                <a16:creationId xmlns:a16="http://schemas.microsoft.com/office/drawing/2014/main" id="{6A77F7D8-95BA-49C3-9D7B-3696360C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4763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페이지·표·문단 위치</a:t>
            </a:r>
          </a:p>
        </p:txBody>
      </p:sp>
      <p:sp>
        <p:nvSpPr>
          <p:cNvPr id="7" name="PPT">
            <a:extLst xmlns:a="http://schemas.openxmlformats.org/drawingml/2006/main">
              <a:ext uri="{FF2B5EF4-FFF2-40B4-BE49-F238E27FC236}">
                <a16:creationId xmlns:a16="http://schemas.microsoft.com/office/drawing/2014/main" id="{55D76DB9-56A4-4A87-BF1A-C075446A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762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PPT</a:t>
            </a:r>
          </a:p>
        </p:txBody>
      </p:sp>
      <p:sp>
        <p:nvSpPr>
          <p:cNvPr id="8" name="전체 장수·비율·장표 번호">
            <a:extLst xmlns:a="http://schemas.openxmlformats.org/drawingml/2006/main">
              <a:ext uri="{FF2B5EF4-FFF2-40B4-BE49-F238E27FC236}">
                <a16:creationId xmlns:a16="http://schemas.microsoft.com/office/drawing/2014/main" id="{6383FC38-52B5-43CB-A4EC-58B2AA5F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3907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전체 장수·비율·장표 번호</a:t>
            </a:r>
          </a:p>
        </p:txBody>
      </p:sp>
      <p:sp>
        <p:nvSpPr>
          <p:cNvPr id="9" name="Markdown">
            <a:extLst xmlns:a="http://schemas.openxmlformats.org/drawingml/2006/main">
              <a:ext uri="{FF2B5EF4-FFF2-40B4-BE49-F238E27FC236}">
                <a16:creationId xmlns:a16="http://schemas.microsoft.com/office/drawing/2014/main" id="{BF474E3D-7EF2-403C-BB23-147F07F7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1762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Markdown</a:t>
            </a:r>
          </a:p>
        </p:txBody>
      </p:sp>
      <p:sp>
        <p:nvSpPr>
          <p:cNvPr id="10" name="제목과 적용 규칙">
            <a:extLst xmlns:a="http://schemas.openxmlformats.org/drawingml/2006/main">
              <a:ext uri="{FF2B5EF4-FFF2-40B4-BE49-F238E27FC236}">
                <a16:creationId xmlns:a16="http://schemas.microsoft.com/office/drawing/2014/main" id="{903ED42C-3E04-45C5-8567-D57B751A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051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제목과 적용 규칙</a:t>
            </a:r>
          </a:p>
        </p:txBody>
      </p:sp>
      <p:sp>
        <p:nvSpPr>
          <p:cNvPr id="11" name="열지 못한 파일">
            <a:extLst xmlns:a="http://schemas.openxmlformats.org/drawingml/2006/main">
              <a:ext uri="{FF2B5EF4-FFF2-40B4-BE49-F238E27FC236}">
                <a16:creationId xmlns:a16="http://schemas.microsoft.com/office/drawing/2014/main" id="{ED3FC303-F9F4-4C48-92D6-97FEAE7D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762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열지 못한 파일</a:t>
            </a:r>
          </a:p>
        </p:txBody>
      </p:sp>
      <p:sp>
        <p:nvSpPr>
          <p:cNvPr id="12" name="미확인이라고 표시">
            <a:extLst xmlns:a="http://schemas.openxmlformats.org/drawingml/2006/main">
              <a:ext uri="{FF2B5EF4-FFF2-40B4-BE49-F238E27FC236}">
                <a16:creationId xmlns:a16="http://schemas.microsoft.com/office/drawing/2014/main" id="{B0AC8581-37B4-46E0-84E2-27FBC73E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2195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미확인이라고 표시</a:t>
            </a:r>
          </a:p>
        </p:txBody>
      </p:sp>
      <p:sp>
        <p:nvSpPr>
          <p:cNvPr id="13" name="체크  파일명만 나열했다면 다시 확인을 요청한다">
            <a:extLst xmlns:a="http://schemas.openxmlformats.org/drawingml/2006/main">
              <a:ext uri="{FF2B5EF4-FFF2-40B4-BE49-F238E27FC236}">
                <a16:creationId xmlns:a16="http://schemas.microsoft.com/office/drawing/2014/main" id="{DBDD1C50-24F8-41A6-A568-0B6CDE0A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76875"/>
            <a:ext cx="866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체크  파일명만 나열했다면 다시 확인을 요청한다</a:t>
            </a:r>
          </a:p>
        </p:txBody>
      </p:sp>
    </p:spTree>
    <p:extLst>
      <p:ext uri="{BB962C8B-B14F-4D97-AF65-F5344CB8AC3E}">
        <p14:creationId xmlns:p14="http://schemas.microsoft.com/office/powerpoint/2010/main" val="8578246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계획서에서 먼저 찾을 여섯 가지">
            <a:extLst xmlns:a="http://schemas.openxmlformats.org/drawingml/2006/main">
              <a:ext uri="{FF2B5EF4-FFF2-40B4-BE49-F238E27FC236}">
                <a16:creationId xmlns:a16="http://schemas.microsoft.com/office/drawing/2014/main" id="{42D82F9F-D2D4-4416-97D4-9CBEC972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계획서에서 먼저 찾을 여섯 가지</a:t>
            </a:r>
          </a:p>
        </p:txBody>
      </p:sp>
      <p:sp>
        <p:nvSpPr>
          <p:cNvPr id="2" name="따라하기">
            <a:extLst xmlns:a="http://schemas.openxmlformats.org/drawingml/2006/main">
              <a:ext uri="{FF2B5EF4-FFF2-40B4-BE49-F238E27FC236}">
                <a16:creationId xmlns:a16="http://schemas.microsoft.com/office/drawing/2014/main" id="{445FC93A-D27D-4360-A99F-A2A9E63D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따라하기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41DB8940-DEE3-4516-BA46-C831DFA0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08</a:t>
            </a:r>
          </a:p>
        </p:txBody>
      </p:sp>
      <p:sp>
        <p:nvSpPr>
          <p:cNvPr id="4" name="학습자">
            <a:extLst xmlns:a="http://schemas.openxmlformats.org/drawingml/2006/main">
              <a:ext uri="{FF2B5EF4-FFF2-40B4-BE49-F238E27FC236}">
                <a16:creationId xmlns:a16="http://schemas.microsoft.com/office/drawing/2014/main" id="{9EA9C6B8-896D-45E3-BD1C-95D6C45D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71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학습자</a:t>
            </a:r>
          </a:p>
        </p:txBody>
      </p:sp>
      <p:sp>
        <p:nvSpPr>
          <p:cNvPr id="5" name="누가 배우나">
            <a:extLst xmlns:a="http://schemas.openxmlformats.org/drawingml/2006/main">
              <a:ext uri="{FF2B5EF4-FFF2-40B4-BE49-F238E27FC236}">
                <a16:creationId xmlns:a16="http://schemas.microsoft.com/office/drawing/2014/main" id="{32234221-25EC-4311-B558-B85D1F3E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24000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누가 배우나</a:t>
            </a:r>
          </a:p>
        </p:txBody>
      </p:sp>
      <p:sp>
        <p:nvSpPr>
          <p:cNvPr id="6" name="목표">
            <a:extLst xmlns:a="http://schemas.openxmlformats.org/drawingml/2006/main">
              <a:ext uri="{FF2B5EF4-FFF2-40B4-BE49-F238E27FC236}">
                <a16:creationId xmlns:a16="http://schemas.microsoft.com/office/drawing/2014/main" id="{260B5783-4F8A-477B-80F3-5643171B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28750"/>
            <a:ext cx="171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목표</a:t>
            </a:r>
          </a:p>
        </p:txBody>
      </p:sp>
      <p:sp>
        <p:nvSpPr>
          <p:cNvPr id="7" name="수업 뒤 무엇을 할 수 있나">
            <a:extLst xmlns:a="http://schemas.openxmlformats.org/drawingml/2006/main">
              <a:ext uri="{FF2B5EF4-FFF2-40B4-BE49-F238E27FC236}">
                <a16:creationId xmlns:a16="http://schemas.microsoft.com/office/drawing/2014/main" id="{8A69B70E-1050-41FC-B9CB-5438FF23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24000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수업 뒤 무엇을 할 수 있나</a:t>
            </a:r>
          </a:p>
        </p:txBody>
      </p:sp>
      <p:sp>
        <p:nvSpPr>
          <p:cNvPr id="8" name="활동">
            <a:extLst xmlns:a="http://schemas.openxmlformats.org/drawingml/2006/main">
              <a:ext uri="{FF2B5EF4-FFF2-40B4-BE49-F238E27FC236}">
                <a16:creationId xmlns:a16="http://schemas.microsoft.com/office/drawing/2014/main" id="{F6ECC691-EA1A-420C-9CDB-E3889DFD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71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활동</a:t>
            </a:r>
          </a:p>
        </p:txBody>
      </p:sp>
      <p:sp>
        <p:nvSpPr>
          <p:cNvPr id="9" name="수업 중 무엇을 하나">
            <a:extLst xmlns:a="http://schemas.openxmlformats.org/drawingml/2006/main">
              <a:ext uri="{FF2B5EF4-FFF2-40B4-BE49-F238E27FC236}">
                <a16:creationId xmlns:a16="http://schemas.microsoft.com/office/drawing/2014/main" id="{77673859-A11E-4F9F-ACB8-6CCC9F83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05125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수업 중 무엇을 하나</a:t>
            </a:r>
          </a:p>
        </p:txBody>
      </p:sp>
      <p:sp>
        <p:nvSpPr>
          <p:cNvPr id="10" name="결과물">
            <a:extLst xmlns:a="http://schemas.openxmlformats.org/drawingml/2006/main">
              <a:ext uri="{FF2B5EF4-FFF2-40B4-BE49-F238E27FC236}">
                <a16:creationId xmlns:a16="http://schemas.microsoft.com/office/drawing/2014/main" id="{8EAA36ED-BB41-496E-96FA-87207715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09875"/>
            <a:ext cx="171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결과물</a:t>
            </a:r>
          </a:p>
        </p:txBody>
      </p:sp>
      <p:sp>
        <p:nvSpPr>
          <p:cNvPr id="11" name="무엇을 남기나">
            <a:extLst xmlns:a="http://schemas.openxmlformats.org/drawingml/2006/main">
              <a:ext uri="{FF2B5EF4-FFF2-40B4-BE49-F238E27FC236}">
                <a16:creationId xmlns:a16="http://schemas.microsoft.com/office/drawing/2014/main" id="{E8BD077D-1689-40C0-8D9A-4DC09FDC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05125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무엇을 남기나</a:t>
            </a:r>
          </a:p>
        </p:txBody>
      </p:sp>
      <p:sp>
        <p:nvSpPr>
          <p:cNvPr id="12" name="평가">
            <a:extLst xmlns:a="http://schemas.openxmlformats.org/drawingml/2006/main">
              <a:ext uri="{FF2B5EF4-FFF2-40B4-BE49-F238E27FC236}">
                <a16:creationId xmlns:a16="http://schemas.microsoft.com/office/drawing/2014/main" id="{C680782D-BAC0-4C72-B0A6-7940BEFD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71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평가</a:t>
            </a:r>
          </a:p>
        </p:txBody>
      </p:sp>
      <p:sp>
        <p:nvSpPr>
          <p:cNvPr id="13" name="무엇으로 확인하나">
            <a:extLst xmlns:a="http://schemas.openxmlformats.org/drawingml/2006/main">
              <a:ext uri="{FF2B5EF4-FFF2-40B4-BE49-F238E27FC236}">
                <a16:creationId xmlns:a16="http://schemas.microsoft.com/office/drawing/2014/main" id="{4FFF766A-5092-42A0-8E78-7AD14351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86250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무엇으로 확인하나</a:t>
            </a:r>
          </a:p>
        </p:txBody>
      </p:sp>
      <p:sp>
        <p:nvSpPr>
          <p:cNvPr id="14" name="차시">
            <a:extLst xmlns:a="http://schemas.openxmlformats.org/drawingml/2006/main">
              <a:ext uri="{FF2B5EF4-FFF2-40B4-BE49-F238E27FC236}">
                <a16:creationId xmlns:a16="http://schemas.microsoft.com/office/drawing/2014/main" id="{7EE7591C-B798-4A11-9182-CCB713D5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91000"/>
            <a:ext cx="171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차시</a:t>
            </a:r>
          </a:p>
        </p:txBody>
      </p:sp>
      <p:sp>
        <p:nvSpPr>
          <p:cNvPr id="15" name="어떻게 나뉘나">
            <a:extLst xmlns:a="http://schemas.openxmlformats.org/drawingml/2006/main">
              <a:ext uri="{FF2B5EF4-FFF2-40B4-BE49-F238E27FC236}">
                <a16:creationId xmlns:a16="http://schemas.microsoft.com/office/drawing/2014/main" id="{CD94B6A0-F0A0-4BF8-941E-64E8F423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86250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어떻게 나뉘나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3C8BD9-DDEB-40BA-AEAD-197B37A4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153150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여섯 항목이 서로 이어지지 않으면 교안도 중간에서 끊깁니다">
            <a:extLst xmlns:a="http://schemas.openxmlformats.org/drawingml/2006/main">
              <a:ext uri="{FF2B5EF4-FFF2-40B4-BE49-F238E27FC236}">
                <a16:creationId xmlns:a16="http://schemas.microsoft.com/office/drawing/2014/main" id="{73D340EF-EED3-45EC-8D49-612CF282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23887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여섯 항목이 서로 이어지지 않으면 교안도 중간에서 끊깁니다</a:t>
            </a:r>
          </a:p>
        </p:txBody>
      </p:sp>
    </p:spTree>
    <p:extLst>
      <p:ext uri="{BB962C8B-B14F-4D97-AF65-F5344CB8AC3E}">
        <p14:creationId xmlns:p14="http://schemas.microsoft.com/office/powerpoint/2010/main" val="13706264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예시: 정치 체제 계획서에서 찾은 것">
            <a:extLst xmlns:a="http://schemas.openxmlformats.org/drawingml/2006/main">
              <a:ext uri="{FF2B5EF4-FFF2-40B4-BE49-F238E27FC236}">
                <a16:creationId xmlns:a16="http://schemas.microsoft.com/office/drawing/2014/main" id="{798F1722-0ADB-4DE9-9346-7C42D279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예시: 정치 체제 계획서에서 찾은 것</a:t>
            </a:r>
          </a:p>
        </p:txBody>
      </p:sp>
      <p:sp>
        <p:nvSpPr>
          <p:cNvPr id="2" name="예시">
            <a:extLst xmlns:a="http://schemas.openxmlformats.org/drawingml/2006/main">
              <a:ext uri="{FF2B5EF4-FFF2-40B4-BE49-F238E27FC236}">
                <a16:creationId xmlns:a16="http://schemas.microsoft.com/office/drawing/2014/main" id="{080504DD-CB4C-48E6-A5C9-CE37B81E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예시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85BC5C58-FF11-45DE-934B-4C86E67E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09</a:t>
            </a:r>
          </a:p>
        </p:txBody>
      </p:sp>
      <p:sp>
        <p:nvSpPr>
          <p:cNvPr id="4" name="학습자·차시">
            <a:extLst xmlns:a="http://schemas.openxmlformats.org/drawingml/2006/main">
              <a:ext uri="{FF2B5EF4-FFF2-40B4-BE49-F238E27FC236}">
                <a16:creationId xmlns:a16="http://schemas.microsoft.com/office/drawing/2014/main" id="{4B5BE58A-DEC0-4635-8E6D-AA624530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학습자·차시</a:t>
            </a:r>
          </a:p>
        </p:txBody>
      </p:sp>
      <p:sp>
        <p:nvSpPr>
          <p:cNvPr id="5" name="중학교 1학년, 4차시">
            <a:extLst xmlns:a="http://schemas.openxmlformats.org/drawingml/2006/main">
              <a:ext uri="{FF2B5EF4-FFF2-40B4-BE49-F238E27FC236}">
                <a16:creationId xmlns:a16="http://schemas.microsoft.com/office/drawing/2014/main" id="{F34B0479-394E-4C73-ACF3-745A735A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390650"/>
            <a:ext cx="804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중학교 1학년, 4차시</a:t>
            </a:r>
          </a:p>
        </p:txBody>
      </p:sp>
      <p:sp>
        <p:nvSpPr>
          <p:cNvPr id="6" name="목표">
            <a:extLst xmlns:a="http://schemas.openxmlformats.org/drawingml/2006/main">
              <a:ext uri="{FF2B5EF4-FFF2-40B4-BE49-F238E27FC236}">
                <a16:creationId xmlns:a16="http://schemas.microsoft.com/office/drawing/2014/main" id="{FF6C4E44-2585-4593-83F0-F77B928D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목표</a:t>
            </a:r>
          </a:p>
        </p:txBody>
      </p:sp>
      <p:sp>
        <p:nvSpPr>
          <p:cNvPr id="7" name="정치 체제 특징을 설명하고 시민의 삶과 연결">
            <a:extLst xmlns:a="http://schemas.openxmlformats.org/drawingml/2006/main">
              <a:ext uri="{FF2B5EF4-FFF2-40B4-BE49-F238E27FC236}">
                <a16:creationId xmlns:a16="http://schemas.microsoft.com/office/drawing/2014/main" id="{134EB0C1-9189-4159-9DD1-C84FD980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47900"/>
            <a:ext cx="804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정치 체제 특징을 설명하고 시민의 삶과 연결</a:t>
            </a:r>
          </a:p>
        </p:txBody>
      </p:sp>
      <p:sp>
        <p:nvSpPr>
          <p:cNvPr id="8" name="활동">
            <a:extLst xmlns:a="http://schemas.openxmlformats.org/drawingml/2006/main">
              <a:ext uri="{FF2B5EF4-FFF2-40B4-BE49-F238E27FC236}">
                <a16:creationId xmlns:a16="http://schemas.microsoft.com/office/drawing/2014/main" id="{A6FB951B-C5F5-4EEF-ADF5-8AC8D904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활동</a:t>
            </a:r>
          </a:p>
        </p:txBody>
      </p:sp>
      <p:sp>
        <p:nvSpPr>
          <p:cNvPr id="9" name="국가 조사, 전문가 설명, 비교, 이민 시뮬레이션">
            <a:extLst xmlns:a="http://schemas.openxmlformats.org/drawingml/2006/main">
              <a:ext uri="{FF2B5EF4-FFF2-40B4-BE49-F238E27FC236}">
                <a16:creationId xmlns:a16="http://schemas.microsoft.com/office/drawing/2014/main" id="{13205062-DDFD-4F89-8D43-B3F3FE54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05150"/>
            <a:ext cx="804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국가 조사, 전문가 설명, 비교, 이민 시뮬레이션</a:t>
            </a:r>
          </a:p>
        </p:txBody>
      </p:sp>
      <p:sp>
        <p:nvSpPr>
          <p:cNvPr id="10" name="결과물">
            <a:extLst xmlns:a="http://schemas.openxmlformats.org/drawingml/2006/main">
              <a:ext uri="{FF2B5EF4-FFF2-40B4-BE49-F238E27FC236}">
                <a16:creationId xmlns:a16="http://schemas.microsoft.com/office/drawing/2014/main" id="{F3610162-57B7-4A7D-A673-48589AD0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결과물</a:t>
            </a:r>
          </a:p>
        </p:txBody>
      </p:sp>
      <p:sp>
        <p:nvSpPr>
          <p:cNvPr id="11" name="시민 삶 지표 카드, 비교 맵, 민주 시민 선언">
            <a:extLst xmlns:a="http://schemas.openxmlformats.org/drawingml/2006/main">
              <a:ext uri="{FF2B5EF4-FFF2-40B4-BE49-F238E27FC236}">
                <a16:creationId xmlns:a16="http://schemas.microsoft.com/office/drawing/2014/main" id="{7F774A98-AA59-439E-9C60-70DDF9EB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962400"/>
            <a:ext cx="804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시민 삶 지표 카드, 비교 맵, 민주 시민 선언</a:t>
            </a:r>
          </a:p>
        </p:txBody>
      </p:sp>
      <p:sp>
        <p:nvSpPr>
          <p:cNvPr id="12" name="확인할 점">
            <a:extLst xmlns:a="http://schemas.openxmlformats.org/drawingml/2006/main">
              <a:ext uri="{FF2B5EF4-FFF2-40B4-BE49-F238E27FC236}">
                <a16:creationId xmlns:a16="http://schemas.microsoft.com/office/drawing/2014/main" id="{A893F8A9-B530-4E32-9AEC-1EB262BD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확인할 점</a:t>
            </a:r>
          </a:p>
        </p:txBody>
      </p:sp>
      <p:sp>
        <p:nvSpPr>
          <p:cNvPr id="13" name="최신 지표와 뉴스의 출처·기준 시점">
            <a:extLst xmlns:a="http://schemas.openxmlformats.org/drawingml/2006/main">
              <a:ext uri="{FF2B5EF4-FFF2-40B4-BE49-F238E27FC236}">
                <a16:creationId xmlns:a16="http://schemas.microsoft.com/office/drawing/2014/main" id="{F8B0B7BE-B9FC-4791-A5D8-7351FAFF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819650"/>
            <a:ext cx="804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최신 지표와 뉴스의 출처·기준 시점</a:t>
            </a:r>
          </a:p>
        </p:txBody>
      </p:sp>
      <p:sp>
        <p:nvSpPr>
          <p:cNvPr id="14" name="핵심  목표와 활동과 결과물이 같은 수행을 가리키는지 본다">
            <a:extLst xmlns:a="http://schemas.openxmlformats.org/drawingml/2006/main">
              <a:ext uri="{FF2B5EF4-FFF2-40B4-BE49-F238E27FC236}">
                <a16:creationId xmlns:a16="http://schemas.microsoft.com/office/drawing/2014/main" id="{475558FB-058B-4FFE-B8AF-02B2D9FF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  목표와 활동과 결과물이 같은 수행을 가리키는지 본다</a:t>
            </a:r>
          </a:p>
        </p:txBody>
      </p:sp>
    </p:spTree>
    <p:extLst>
      <p:ext uri="{BB962C8B-B14F-4D97-AF65-F5344CB8AC3E}">
        <p14:creationId xmlns:p14="http://schemas.microsoft.com/office/powerpoint/2010/main" val="2861014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design.md와 샘플 PPT에서 따로 볼 것">
            <a:extLst xmlns:a="http://schemas.openxmlformats.org/drawingml/2006/main">
              <a:ext uri="{FF2B5EF4-FFF2-40B4-BE49-F238E27FC236}">
                <a16:creationId xmlns:a16="http://schemas.microsoft.com/office/drawing/2014/main" id="{48871697-A2B9-44DC-A165-CA67DFF5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0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design.md와 샘플 PPT에서 따로 볼 것</a:t>
            </a:r>
          </a:p>
        </p:txBody>
      </p:sp>
      <p:sp>
        <p:nvSpPr>
          <p:cNvPr id="2" name="따라하기">
            <a:extLst xmlns:a="http://schemas.openxmlformats.org/drawingml/2006/main">
              <a:ext uri="{FF2B5EF4-FFF2-40B4-BE49-F238E27FC236}">
                <a16:creationId xmlns:a16="http://schemas.microsoft.com/office/drawing/2014/main" id="{409EEAA6-49F0-4F04-82B4-740DBC0E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따라하기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FA304921-A26D-4D8D-A8C4-7DF53EB7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10</a:t>
            </a:r>
          </a:p>
        </p:txBody>
      </p:sp>
      <p:sp>
        <p:nvSpPr>
          <p:cNvPr id="4" name="design.md">
            <a:extLst xmlns:a="http://schemas.openxmlformats.org/drawingml/2006/main">
              <a:ext uri="{FF2B5EF4-FFF2-40B4-BE49-F238E27FC236}">
                <a16:creationId xmlns:a16="http://schemas.microsoft.com/office/drawing/2014/main" id="{06DEA943-586F-40D5-A948-54D7CBD7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457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1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design.md</a:t>
            </a:r>
          </a:p>
        </p:txBody>
      </p:sp>
      <p:sp>
        <p:nvSpPr>
          <p:cNvPr id="5" name="샘플 PPT">
            <a:extLst xmlns:a="http://schemas.openxmlformats.org/drawingml/2006/main">
              <a:ext uri="{FF2B5EF4-FFF2-40B4-BE49-F238E27FC236}">
                <a16:creationId xmlns:a16="http://schemas.microsoft.com/office/drawing/2014/main" id="{A0302DEC-96A9-47AA-87FD-64E91EA5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81125"/>
            <a:ext cx="457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1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샘플 PPT</a:t>
            </a:r>
          </a:p>
        </p:txBody>
      </p:sp>
      <p:sp>
        <p:nvSpPr>
          <p:cNvPr id="6" name="• 색을 어디에 쓰는가">
            <a:extLst xmlns:a="http://schemas.openxmlformats.org/drawingml/2006/main">
              <a:ext uri="{FF2B5EF4-FFF2-40B4-BE49-F238E27FC236}">
                <a16:creationId xmlns:a16="http://schemas.microsoft.com/office/drawing/2014/main" id="{316A22B7-F241-4D08-B9A9-ED264DA9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• 색을 어디에 쓰는가</a:t>
            </a:r>
          </a:p>
        </p:txBody>
      </p:sp>
      <p:sp>
        <p:nvSpPr>
          <p:cNvPr id="7" name="• 제목·본문 글꼴과 크기">
            <a:extLst xmlns:a="http://schemas.openxmlformats.org/drawingml/2006/main">
              <a:ext uri="{FF2B5EF4-FFF2-40B4-BE49-F238E27FC236}">
                <a16:creationId xmlns:a16="http://schemas.microsoft.com/office/drawing/2014/main" id="{155AC3BF-2193-4282-904B-C67C2018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• 제목·본문 글꼴과 크기</a:t>
            </a:r>
          </a:p>
        </p:txBody>
      </p:sp>
      <p:sp>
        <p:nvSpPr>
          <p:cNvPr id="8" name="• 형태·이미지·움직임 규칙">
            <a:extLst xmlns:a="http://schemas.openxmlformats.org/drawingml/2006/main">
              <a:ext uri="{FF2B5EF4-FFF2-40B4-BE49-F238E27FC236}">
                <a16:creationId xmlns:a16="http://schemas.microsoft.com/office/drawing/2014/main" id="{FFE0F934-4639-46AD-B42C-7A54CBBE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481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• 형태·이미지·움직임 규칙</a:t>
            </a:r>
          </a:p>
        </p:txBody>
      </p:sp>
      <p:sp>
        <p:nvSpPr>
          <p:cNvPr id="9" name="• 화면 비율과 여백">
            <a:extLst xmlns:a="http://schemas.openxmlformats.org/drawingml/2006/main">
              <a:ext uri="{FF2B5EF4-FFF2-40B4-BE49-F238E27FC236}">
                <a16:creationId xmlns:a16="http://schemas.microsoft.com/office/drawing/2014/main" id="{61B0B9FF-F5E1-4AB4-9186-22A0FC1D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33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• 화면 비율과 여백</a:t>
            </a:r>
          </a:p>
        </p:txBody>
      </p:sp>
      <p:sp>
        <p:nvSpPr>
          <p:cNvPr id="10" name="• 한 장에 들어가는 정보량">
            <a:extLst xmlns:a="http://schemas.openxmlformats.org/drawingml/2006/main">
              <a:ext uri="{FF2B5EF4-FFF2-40B4-BE49-F238E27FC236}">
                <a16:creationId xmlns:a16="http://schemas.microsoft.com/office/drawing/2014/main" id="{06A91731-9860-4D52-A566-AFA9659E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908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• 한 장에 들어가는 정보량</a:t>
            </a:r>
          </a:p>
        </p:txBody>
      </p:sp>
      <p:sp>
        <p:nvSpPr>
          <p:cNvPr id="11" name="• 자주 쓰는 배치와 현장 가독성">
            <a:extLst xmlns:a="http://schemas.openxmlformats.org/drawingml/2006/main">
              <a:ext uri="{FF2B5EF4-FFF2-40B4-BE49-F238E27FC236}">
                <a16:creationId xmlns:a16="http://schemas.microsoft.com/office/drawing/2014/main" id="{24090B2D-F9B1-4391-9C7F-F35BF40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481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• 자주 쓰는 배치와 현장 가독성</a:t>
            </a:r>
          </a:p>
        </p:txBody>
      </p:sp>
      <p:sp>
        <p:nvSpPr>
          <p:cNvPr id="12" name="표시  가져올 요소 / 바꿀 요소 / 아직 정하지 않은 요소">
            <a:extLst xmlns:a="http://schemas.openxmlformats.org/drawingml/2006/main">
              <a:ext uri="{FF2B5EF4-FFF2-40B4-BE49-F238E27FC236}">
                <a16:creationId xmlns:a16="http://schemas.microsoft.com/office/drawing/2014/main" id="{540B350C-5529-47BF-A21B-2D7B6EAD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42925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표시  가져올 요소 / 바꿀 요소 / 아직 정하지 않은 요소</a:t>
            </a:r>
          </a:p>
        </p:txBody>
      </p:sp>
    </p:spTree>
    <p:extLst>
      <p:ext uri="{BB962C8B-B14F-4D97-AF65-F5344CB8AC3E}">
        <p14:creationId xmlns:p14="http://schemas.microsoft.com/office/powerpoint/2010/main" val="4408365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예시: 뉴모피즘 형태에 Spotify 색을 쓰기">
            <a:extLst xmlns:a="http://schemas.openxmlformats.org/drawingml/2006/main">
              <a:ext uri="{FF2B5EF4-FFF2-40B4-BE49-F238E27FC236}">
                <a16:creationId xmlns:a16="http://schemas.microsoft.com/office/drawing/2014/main" id="{192AE480-65FE-4E70-A895-E9BCE53B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0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예시: 뉴모피즘 형태에 Spotify 색을 쓰기</a:t>
            </a:r>
          </a:p>
        </p:txBody>
      </p:sp>
      <p:sp>
        <p:nvSpPr>
          <p:cNvPr id="2" name="예시">
            <a:extLst xmlns:a="http://schemas.openxmlformats.org/drawingml/2006/main">
              <a:ext uri="{FF2B5EF4-FFF2-40B4-BE49-F238E27FC236}">
                <a16:creationId xmlns:a16="http://schemas.microsoft.com/office/drawing/2014/main" id="{C1F813C2-629F-45AB-A293-3A4ED7AF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예시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7F5AC065-45D3-4593-967F-656D086E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11</a:t>
            </a:r>
          </a:p>
        </p:txBody>
      </p:sp>
      <p:sp>
        <p:nvSpPr>
          <p:cNvPr id="4" name="형태·그림자">
            <a:extLst xmlns:a="http://schemas.openxmlformats.org/drawingml/2006/main">
              <a:ext uri="{FF2B5EF4-FFF2-40B4-BE49-F238E27FC236}">
                <a16:creationId xmlns:a16="http://schemas.microsoft.com/office/drawing/2014/main" id="{4771FA05-5CC3-4137-A80A-22EF5AF9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형태·그림자</a:t>
            </a:r>
          </a:p>
        </p:txBody>
      </p:sp>
      <p:sp>
        <p:nvSpPr>
          <p:cNvPr id="5" name="뉴모피즘 샘플 PPT">
            <a:extLst xmlns:a="http://schemas.openxmlformats.org/drawingml/2006/main">
              <a:ext uri="{FF2B5EF4-FFF2-40B4-BE49-F238E27FC236}">
                <a16:creationId xmlns:a16="http://schemas.microsoft.com/office/drawing/2014/main" id="{B15F5637-DADF-4CDF-BB5E-3EBDEE41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81125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뉴모피즘 샘플 PPT</a:t>
            </a:r>
          </a:p>
        </p:txBody>
      </p:sp>
      <p:sp>
        <p:nvSpPr>
          <p:cNvPr id="6" name="돌출감과 부드러운 그림자 유지">
            <a:extLst xmlns:a="http://schemas.openxmlformats.org/drawingml/2006/main">
              <a:ext uri="{FF2B5EF4-FFF2-40B4-BE49-F238E27FC236}">
                <a16:creationId xmlns:a16="http://schemas.microsoft.com/office/drawing/2014/main" id="{33CA94B9-7309-4C92-9209-AFB828D4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192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돌출감과 부드러운 그림자 유지</a:t>
            </a:r>
          </a:p>
        </p:txBody>
      </p:sp>
      <p:sp>
        <p:nvSpPr>
          <p:cNvPr id="7" name="레이아웃·여백">
            <a:extLst xmlns:a="http://schemas.openxmlformats.org/drawingml/2006/main">
              <a:ext uri="{FF2B5EF4-FFF2-40B4-BE49-F238E27FC236}">
                <a16:creationId xmlns:a16="http://schemas.microsoft.com/office/drawing/2014/main" id="{DF1963D5-E094-426C-99AE-3B9E4479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레이아웃·여백</a:t>
            </a:r>
          </a:p>
        </p:txBody>
      </p:sp>
      <p:sp>
        <p:nvSpPr>
          <p:cNvPr id="8" name="뉴모피즘 샘플 PPT">
            <a:extLst xmlns:a="http://schemas.openxmlformats.org/drawingml/2006/main">
              <a:ext uri="{FF2B5EF4-FFF2-40B4-BE49-F238E27FC236}">
                <a16:creationId xmlns:a16="http://schemas.microsoft.com/office/drawing/2014/main" id="{28AF4AD5-53F4-4815-B3DD-CDBC8118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8125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뉴모피즘 샘플 PPT</a:t>
            </a:r>
          </a:p>
        </p:txBody>
      </p:sp>
      <p:sp>
        <p:nvSpPr>
          <p:cNvPr id="9" name="큰 제목과 넉넉한 공간 유지">
            <a:extLst xmlns:a="http://schemas.openxmlformats.org/drawingml/2006/main">
              <a:ext uri="{FF2B5EF4-FFF2-40B4-BE49-F238E27FC236}">
                <a16:creationId xmlns:a16="http://schemas.microsoft.com/office/drawing/2014/main" id="{5EACDADB-81D1-4904-8ABB-D04E164D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큰 제목과 넉넉한 공간 유지</a:t>
            </a:r>
          </a:p>
        </p:txBody>
      </p:sp>
      <p:sp>
        <p:nvSpPr>
          <p:cNvPr id="10" name="색·배경·강조">
            <a:extLst xmlns:a="http://schemas.openxmlformats.org/drawingml/2006/main">
              <a:ext uri="{FF2B5EF4-FFF2-40B4-BE49-F238E27FC236}">
                <a16:creationId xmlns:a16="http://schemas.microsoft.com/office/drawing/2014/main" id="{CB44DBD7-9AFF-4558-8EDD-63D9627E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81375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색·배경·강조</a:t>
            </a:r>
          </a:p>
        </p:txBody>
      </p:sp>
      <p:sp>
        <p:nvSpPr>
          <p:cNvPr id="11" name="Spotify design.md">
            <a:extLst xmlns:a="http://schemas.openxmlformats.org/drawingml/2006/main">
              <a:ext uri="{FF2B5EF4-FFF2-40B4-BE49-F238E27FC236}">
                <a16:creationId xmlns:a16="http://schemas.microsoft.com/office/drawing/2014/main" id="{45FEB62B-F37F-4001-95DC-3CEDFE9B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81375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Spotify design.md</a:t>
            </a:r>
          </a:p>
        </p:txBody>
      </p:sp>
      <p:sp>
        <p:nvSpPr>
          <p:cNvPr id="12" name="어두운 팔레트와 기능성 초록 사용">
            <a:extLst xmlns:a="http://schemas.openxmlformats.org/drawingml/2006/main">
              <a:ext uri="{FF2B5EF4-FFF2-40B4-BE49-F238E27FC236}">
                <a16:creationId xmlns:a16="http://schemas.microsoft.com/office/drawing/2014/main" id="{D64A1417-3B89-4FDB-840D-AD0D6897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1947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어두운 팔레트와 기능성 초록 사용</a:t>
            </a:r>
          </a:p>
        </p:txBody>
      </p:sp>
      <p:sp>
        <p:nvSpPr>
          <p:cNvPr id="13" name="제목·본문 폰트">
            <a:extLst xmlns:a="http://schemas.openxmlformats.org/drawingml/2006/main">
              <a:ext uri="{FF2B5EF4-FFF2-40B4-BE49-F238E27FC236}">
                <a16:creationId xmlns:a16="http://schemas.microsoft.com/office/drawing/2014/main" id="{2D3D7156-A918-422D-BEE1-0720256E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815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제목·본문 폰트</a:t>
            </a:r>
          </a:p>
        </p:txBody>
      </p:sp>
      <p:sp>
        <p:nvSpPr>
          <p:cNvPr id="14" name="사용자가 확인">
            <a:extLst xmlns:a="http://schemas.openxmlformats.org/drawingml/2006/main">
              <a:ext uri="{FF2B5EF4-FFF2-40B4-BE49-F238E27FC236}">
                <a16:creationId xmlns:a16="http://schemas.microsoft.com/office/drawing/2014/main" id="{E730A3DD-29E4-4951-80F1-71789D89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38150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사용자가 확인</a:t>
            </a:r>
          </a:p>
        </p:txBody>
      </p:sp>
      <p:sp>
        <p:nvSpPr>
          <p:cNvPr id="15" name="파일·설치·배포 가능 여부 확인">
            <a:extLst xmlns:a="http://schemas.openxmlformats.org/drawingml/2006/main">
              <a:ext uri="{FF2B5EF4-FFF2-40B4-BE49-F238E27FC236}">
                <a16:creationId xmlns:a16="http://schemas.microsoft.com/office/drawing/2014/main" id="{72A4F41C-7CA8-4399-A3D7-C961B901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96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파일·설치·배포 가능 여부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B43219-C97A-4EA7-8E4C-3E38FA3D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153150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둘 중 하나를 고르는 대신 요소마다 출처를 정합니다">
            <a:extLst xmlns:a="http://schemas.openxmlformats.org/drawingml/2006/main">
              <a:ext uri="{FF2B5EF4-FFF2-40B4-BE49-F238E27FC236}">
                <a16:creationId xmlns:a16="http://schemas.microsoft.com/office/drawing/2014/main" id="{6FC881AA-795D-49B8-95CE-8995FD4F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23887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둘 중 하나를 고르는 대신 요소마다 출처를 정합니다</a:t>
            </a:r>
          </a:p>
        </p:txBody>
      </p:sp>
    </p:spTree>
    <p:extLst>
      <p:ext uri="{BB962C8B-B14F-4D97-AF65-F5344CB8AC3E}">
        <p14:creationId xmlns:p14="http://schemas.microsoft.com/office/powerpoint/2010/main" val="15500939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첫 분석 결과에서 내가 확인할 것">
            <a:extLst xmlns:a="http://schemas.openxmlformats.org/drawingml/2006/main">
              <a:ext uri="{FF2B5EF4-FFF2-40B4-BE49-F238E27FC236}">
                <a16:creationId xmlns:a16="http://schemas.microsoft.com/office/drawing/2014/main" id="{BAC33456-10A5-4BC5-A3D8-F2FF63D7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첫 분석 결과에서 내가 확인할 것</a:t>
            </a:r>
          </a:p>
        </p:txBody>
      </p:sp>
      <p:sp>
        <p:nvSpPr>
          <p:cNvPr id="2" name="내가 결정">
            <a:extLst xmlns:a="http://schemas.openxmlformats.org/drawingml/2006/main">
              <a:ext uri="{FF2B5EF4-FFF2-40B4-BE49-F238E27FC236}">
                <a16:creationId xmlns:a16="http://schemas.microsoft.com/office/drawing/2014/main" id="{30AB04FC-A5A0-41D0-9E70-586BD273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내가 결정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2D5A4094-26C7-4208-8760-41865507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12</a:t>
            </a:r>
          </a:p>
        </p:txBody>
      </p:sp>
      <p:sp>
        <p:nvSpPr>
          <p:cNvPr id="4" name="□ 틀린 내용">
            <a:extLst xmlns:a="http://schemas.openxmlformats.org/drawingml/2006/main">
              <a:ext uri="{FF2B5EF4-FFF2-40B4-BE49-F238E27FC236}">
                <a16:creationId xmlns:a16="http://schemas.microsoft.com/office/drawing/2014/main" id="{B2DFB456-8CB9-46E6-9025-EA4F07E7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266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□ 틀린 내용</a:t>
            </a:r>
          </a:p>
        </p:txBody>
      </p:sp>
      <p:sp>
        <p:nvSpPr>
          <p:cNvPr id="5" name="계획서와 다른 해석">
            <a:extLst xmlns:a="http://schemas.openxmlformats.org/drawingml/2006/main">
              <a:ext uri="{FF2B5EF4-FFF2-40B4-BE49-F238E27FC236}">
                <a16:creationId xmlns:a16="http://schemas.microsoft.com/office/drawing/2014/main" id="{CE92EAC6-207B-48FE-9DCE-A8340172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7160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계획서와 다른 해석</a:t>
            </a:r>
          </a:p>
        </p:txBody>
      </p:sp>
      <p:sp>
        <p:nvSpPr>
          <p:cNvPr id="6" name="□ 빠진 내용">
            <a:extLst xmlns:a="http://schemas.openxmlformats.org/drawingml/2006/main">
              <a:ext uri="{FF2B5EF4-FFF2-40B4-BE49-F238E27FC236}">
                <a16:creationId xmlns:a16="http://schemas.microsoft.com/office/drawing/2014/main" id="{50648CDE-5109-4369-AF8B-7CA1674F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00275"/>
            <a:ext cx="266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□ 빠진 내용</a:t>
            </a:r>
          </a:p>
        </p:txBody>
      </p:sp>
      <p:sp>
        <p:nvSpPr>
          <p:cNvPr id="7" name="반드시 유지할 목표·활동">
            <a:extLst xmlns:a="http://schemas.openxmlformats.org/drawingml/2006/main">
              <a:ext uri="{FF2B5EF4-FFF2-40B4-BE49-F238E27FC236}">
                <a16:creationId xmlns:a16="http://schemas.microsoft.com/office/drawing/2014/main" id="{7637F4A5-36E8-4889-85E9-D4803D33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반드시 유지할 목표·활동</a:t>
            </a:r>
          </a:p>
        </p:txBody>
      </p:sp>
      <p:sp>
        <p:nvSpPr>
          <p:cNvPr id="8" name="□ 애매한 말">
            <a:extLst xmlns:a="http://schemas.openxmlformats.org/drawingml/2006/main">
              <a:ext uri="{FF2B5EF4-FFF2-40B4-BE49-F238E27FC236}">
                <a16:creationId xmlns:a16="http://schemas.microsoft.com/office/drawing/2014/main" id="{ED3E04DB-0836-49A8-BBBD-FC4C0D1C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14675"/>
            <a:ext cx="266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□ 애매한 말</a:t>
            </a:r>
          </a:p>
        </p:txBody>
      </p:sp>
      <p:sp>
        <p:nvSpPr>
          <p:cNvPr id="9" name="뜻이 여러 가지인 표현">
            <a:extLst xmlns:a="http://schemas.openxmlformats.org/drawingml/2006/main">
              <a:ext uri="{FF2B5EF4-FFF2-40B4-BE49-F238E27FC236}">
                <a16:creationId xmlns:a16="http://schemas.microsoft.com/office/drawing/2014/main" id="{C9776953-34CD-4B41-8235-5495F31B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0040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뜻이 여러 가지인 표현</a:t>
            </a:r>
          </a:p>
        </p:txBody>
      </p:sp>
      <p:sp>
        <p:nvSpPr>
          <p:cNvPr id="10" name="□ 최신 확인">
            <a:extLst xmlns:a="http://schemas.openxmlformats.org/drawingml/2006/main">
              <a:ext uri="{FF2B5EF4-FFF2-40B4-BE49-F238E27FC236}">
                <a16:creationId xmlns:a16="http://schemas.microsoft.com/office/drawing/2014/main" id="{CDDDE5FC-22F0-4E3C-ACAD-2DA84C54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29075"/>
            <a:ext cx="266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□ 최신 확인</a:t>
            </a:r>
          </a:p>
        </p:txBody>
      </p:sp>
      <p:sp>
        <p:nvSpPr>
          <p:cNvPr id="11" name="통계·정책·뉴스·도구 정보">
            <a:extLst xmlns:a="http://schemas.openxmlformats.org/drawingml/2006/main">
              <a:ext uri="{FF2B5EF4-FFF2-40B4-BE49-F238E27FC236}">
                <a16:creationId xmlns:a16="http://schemas.microsoft.com/office/drawing/2014/main" id="{0824A283-C479-4127-9245-FA0685FC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1480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통계·정책·뉴스·도구 정보</a:t>
            </a:r>
          </a:p>
        </p:txBody>
      </p:sp>
      <p:sp>
        <p:nvSpPr>
          <p:cNvPr id="12" name="□ 바꾸지 말 것">
            <a:extLst xmlns:a="http://schemas.openxmlformats.org/drawingml/2006/main">
              <a:ext uri="{FF2B5EF4-FFF2-40B4-BE49-F238E27FC236}">
                <a16:creationId xmlns:a16="http://schemas.microsoft.com/office/drawing/2014/main" id="{77261229-CCA7-47B4-8D78-F7DE2C97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43475"/>
            <a:ext cx="266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□ 바꾸지 말 것</a:t>
            </a:r>
          </a:p>
        </p:txBody>
      </p:sp>
      <p:sp>
        <p:nvSpPr>
          <p:cNvPr id="13" name="교육 목적·필수 결과물·금지 사항">
            <a:extLst xmlns:a="http://schemas.openxmlformats.org/drawingml/2006/main">
              <a:ext uri="{FF2B5EF4-FFF2-40B4-BE49-F238E27FC236}">
                <a16:creationId xmlns:a16="http://schemas.microsoft.com/office/drawing/2014/main" id="{74F726EC-DA28-4A7B-9169-7C9CB1F3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2920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교육 목적·필수 결과물·금지 사항</a:t>
            </a:r>
          </a:p>
        </p:txBody>
      </p:sp>
      <p:sp>
        <p:nvSpPr>
          <p:cNvPr id="14" name="수정할 내용과 아직 확인할 내용을 AI에게 다시 보낸다">
            <a:extLst xmlns:a="http://schemas.openxmlformats.org/drawingml/2006/main">
              <a:ext uri="{FF2B5EF4-FFF2-40B4-BE49-F238E27FC236}">
                <a16:creationId xmlns:a16="http://schemas.microsoft.com/office/drawing/2014/main" id="{3855FDFA-D180-4C82-B25A-36051602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57875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수정할 내용과 아직 확인할 내용을 AI에게 다시 보낸다</a:t>
            </a:r>
          </a:p>
        </p:txBody>
      </p:sp>
    </p:spTree>
    <p:extLst>
      <p:ext uri="{BB962C8B-B14F-4D97-AF65-F5344CB8AC3E}">
        <p14:creationId xmlns:p14="http://schemas.microsoft.com/office/powerpoint/2010/main" val="19551376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두 번째 요청: 가능한 수업 방식 비교하기">
            <a:extLst xmlns:a="http://schemas.openxmlformats.org/drawingml/2006/main">
              <a:ext uri="{FF2B5EF4-FFF2-40B4-BE49-F238E27FC236}">
                <a16:creationId xmlns:a16="http://schemas.microsoft.com/office/drawing/2014/main" id="{2DCEFA7B-E7A8-4757-BAA2-BBE4CF03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두 번째 요청: 가능한 수업 방식 비교하기</a:t>
            </a:r>
          </a:p>
        </p:txBody>
      </p:sp>
      <p:sp>
        <p:nvSpPr>
          <p:cNvPr id="2" name="따라하기">
            <a:extLst xmlns:a="http://schemas.openxmlformats.org/drawingml/2006/main">
              <a:ext uri="{FF2B5EF4-FFF2-40B4-BE49-F238E27FC236}">
                <a16:creationId xmlns:a16="http://schemas.microsoft.com/office/drawing/2014/main" id="{A7579F89-8B9F-4F54-8B5E-7A367566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따라하기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A6B2E9B4-EC6B-4CFB-BC14-9A546859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13</a:t>
            </a:r>
          </a:p>
        </p:txBody>
      </p:sp>
      <p:sp>
        <p:nvSpPr>
          <p:cNvPr id="4" name="복사해서 사용">
            <a:extLst xmlns:a="http://schemas.openxmlformats.org/drawingml/2006/main">
              <a:ext uri="{FF2B5EF4-FFF2-40B4-BE49-F238E27FC236}">
                <a16:creationId xmlns:a16="http://schemas.microsoft.com/office/drawing/2014/main" id="{07EE459F-8177-4666-A0B9-671F8D0F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573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복사해서 사용</a:t>
            </a:r>
          </a:p>
        </p:txBody>
      </p:sp>
      <p:sp>
        <p:nvSpPr>
          <p:cNvPr id="5" name="계획서에서 이미 보이는 수업 방식과 가능한 대안 2~3개를 비교해줘.  각 안은 다음 기준으로 비교">
            <a:extLst xmlns:a="http://schemas.openxmlformats.org/drawingml/2006/main">
              <a:ext uri="{FF2B5EF4-FFF2-40B4-BE49-F238E27FC236}">
                <a16:creationId xmlns:a16="http://schemas.microsoft.com/office/drawing/2014/main" id="{0EBFEB43-9626-4DD9-9E09-FF17D52A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09550" tIns="209550" rIns="209550" bIns="2095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계획서에서 이미 보이는 수업 방식과 가능한 대안 2~3개를 비교해줘.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각 안은 다음 기준으로 비교해줘.</a:t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- 학습자가 실제로 하는 행동</a:t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- 교안에 필요한 화면</a:t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- 이 방식의 장점과 주의점</a:t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- 계획서에서 유지되거나 달라지는 부분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하나를 확정하지 말고 내가 선택할 질문으로 끝내줘.</a:t>
            </a:r>
          </a:p>
        </p:txBody>
      </p:sp>
      <p:sp>
        <p:nvSpPr>
          <p:cNvPr id="6" name="실습  비교안을 받은 뒤 가장 맞는 안과 이유를 표시한다">
            <a:extLst xmlns:a="http://schemas.openxmlformats.org/drawingml/2006/main">
              <a:ext uri="{FF2B5EF4-FFF2-40B4-BE49-F238E27FC236}">
                <a16:creationId xmlns:a16="http://schemas.microsoft.com/office/drawing/2014/main" id="{8761C755-BF08-4C5E-915B-CAA00729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86375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  비교안을 받은 뒤 가장 맞는 안과 이유를 표시한다</a:t>
            </a:r>
          </a:p>
        </p:txBody>
      </p:sp>
    </p:spTree>
    <p:extLst>
      <p:ext uri="{BB962C8B-B14F-4D97-AF65-F5344CB8AC3E}">
        <p14:creationId xmlns:p14="http://schemas.microsoft.com/office/powerpoint/2010/main" val="18997316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수업 방식은 학습자가 하는 일로 구분한다">
            <a:extLst xmlns:a="http://schemas.openxmlformats.org/drawingml/2006/main">
              <a:ext uri="{FF2B5EF4-FFF2-40B4-BE49-F238E27FC236}">
                <a16:creationId xmlns:a16="http://schemas.microsoft.com/office/drawing/2014/main" id="{137B527B-CDC7-4BE9-8721-0F2F015C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수업 방식은 학습자가 하는 일로 구분한다</a:t>
            </a:r>
          </a:p>
        </p:txBody>
      </p:sp>
      <p:sp>
        <p:nvSpPr>
          <p:cNvPr id="2" name="설명">
            <a:extLst xmlns:a="http://schemas.openxmlformats.org/drawingml/2006/main">
              <a:ext uri="{FF2B5EF4-FFF2-40B4-BE49-F238E27FC236}">
                <a16:creationId xmlns:a16="http://schemas.microsoft.com/office/drawing/2014/main" id="{A8F4C0CF-01A5-4AF5-A896-580EECD5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설명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9A47116A-6075-4B42-9863-2C65A74A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14</a:t>
            </a:r>
          </a:p>
        </p:txBody>
      </p:sp>
      <p:sp>
        <p:nvSpPr>
          <p:cNvPr id="4" name="이론">
            <a:extLst xmlns:a="http://schemas.openxmlformats.org/drawingml/2006/main">
              <a:ext uri="{FF2B5EF4-FFF2-40B4-BE49-F238E27FC236}">
                <a16:creationId xmlns:a16="http://schemas.microsoft.com/office/drawing/2014/main" id="{2803A0A3-7F38-4EFA-A369-4B189D09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이론</a:t>
            </a:r>
          </a:p>
        </p:txBody>
      </p:sp>
      <p:sp>
        <p:nvSpPr>
          <p:cNvPr id="5" name="듣고 개념을 연결">
            <a:extLst xmlns:a="http://schemas.openxmlformats.org/drawingml/2006/main">
              <a:ext uri="{FF2B5EF4-FFF2-40B4-BE49-F238E27FC236}">
                <a16:creationId xmlns:a16="http://schemas.microsoft.com/office/drawing/2014/main" id="{D8413D9C-5332-469F-84B3-7E82AA8B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466850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듣고 개념을 연결</a:t>
            </a:r>
          </a:p>
        </p:txBody>
      </p:sp>
      <p:sp>
        <p:nvSpPr>
          <p:cNvPr id="6" name="사례">
            <a:extLst xmlns:a="http://schemas.openxmlformats.org/drawingml/2006/main">
              <a:ext uri="{FF2B5EF4-FFF2-40B4-BE49-F238E27FC236}">
                <a16:creationId xmlns:a16="http://schemas.microsoft.com/office/drawing/2014/main" id="{856DC96E-BACE-48D7-A692-C1D3C7E4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사례</a:t>
            </a:r>
          </a:p>
        </p:txBody>
      </p:sp>
      <p:sp>
        <p:nvSpPr>
          <p:cNvPr id="7" name="상황을 읽고 맥락을 해석">
            <a:extLst xmlns:a="http://schemas.openxmlformats.org/drawingml/2006/main">
              <a:ext uri="{FF2B5EF4-FFF2-40B4-BE49-F238E27FC236}">
                <a16:creationId xmlns:a16="http://schemas.microsoft.com/office/drawing/2014/main" id="{47392946-5BBC-4D70-AEB3-FD45BB45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66850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상황을 읽고 맥락을 해석</a:t>
            </a:r>
          </a:p>
        </p:txBody>
      </p:sp>
      <p:sp>
        <p:nvSpPr>
          <p:cNvPr id="8" name="토론">
            <a:extLst xmlns:a="http://schemas.openxmlformats.org/drawingml/2006/main">
              <a:ext uri="{FF2B5EF4-FFF2-40B4-BE49-F238E27FC236}">
                <a16:creationId xmlns:a16="http://schemas.microsoft.com/office/drawing/2014/main" id="{0329AD83-C11A-4A80-835C-69620BE4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토론</a:t>
            </a:r>
          </a:p>
        </p:txBody>
      </p:sp>
      <p:sp>
        <p:nvSpPr>
          <p:cNvPr id="9" name="근거를 들어 말하고 비교">
            <a:extLst xmlns:a="http://schemas.openxmlformats.org/drawingml/2006/main">
              <a:ext uri="{FF2B5EF4-FFF2-40B4-BE49-F238E27FC236}">
                <a16:creationId xmlns:a16="http://schemas.microsoft.com/office/drawing/2014/main" id="{32137EDA-C57B-44BC-BFF4-05D800C0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95600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근거를 들어 말하고 비교</a:t>
            </a:r>
          </a:p>
        </p:txBody>
      </p:sp>
      <p:sp>
        <p:nvSpPr>
          <p:cNvPr id="10" name="실습">
            <a:extLst xmlns:a="http://schemas.openxmlformats.org/drawingml/2006/main">
              <a:ext uri="{FF2B5EF4-FFF2-40B4-BE49-F238E27FC236}">
                <a16:creationId xmlns:a16="http://schemas.microsoft.com/office/drawing/2014/main" id="{D2887763-F437-4D81-8D6B-E2DCE5E3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987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11" name="도구를 직접 사용하고 결과 확인">
            <a:extLst xmlns:a="http://schemas.openxmlformats.org/drawingml/2006/main">
              <a:ext uri="{FF2B5EF4-FFF2-40B4-BE49-F238E27FC236}">
                <a16:creationId xmlns:a16="http://schemas.microsoft.com/office/drawing/2014/main" id="{0CE67B41-CCEC-4C66-B804-651E669E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95600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도구를 직접 사용하고 결과 확인</a:t>
            </a:r>
          </a:p>
        </p:txBody>
      </p:sp>
      <p:sp>
        <p:nvSpPr>
          <p:cNvPr id="12" name="게임">
            <a:extLst xmlns:a="http://schemas.openxmlformats.org/drawingml/2006/main">
              <a:ext uri="{FF2B5EF4-FFF2-40B4-BE49-F238E27FC236}">
                <a16:creationId xmlns:a16="http://schemas.microsoft.com/office/drawing/2014/main" id="{E9BE1585-0334-4861-B358-04FCD131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86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게임</a:t>
            </a:r>
          </a:p>
        </p:txBody>
      </p:sp>
      <p:sp>
        <p:nvSpPr>
          <p:cNvPr id="13" name="규칙 안에서 선택하고 도전">
            <a:extLst xmlns:a="http://schemas.openxmlformats.org/drawingml/2006/main">
              <a:ext uri="{FF2B5EF4-FFF2-40B4-BE49-F238E27FC236}">
                <a16:creationId xmlns:a16="http://schemas.microsoft.com/office/drawing/2014/main" id="{D0F09E8B-B2A3-4F94-9CF7-B4717FF8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324350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규칙 안에서 선택하고 도전</a:t>
            </a:r>
          </a:p>
        </p:txBody>
      </p:sp>
      <p:sp>
        <p:nvSpPr>
          <p:cNvPr id="14" name="프로젝트">
            <a:extLst xmlns:a="http://schemas.openxmlformats.org/drawingml/2006/main">
              <a:ext uri="{FF2B5EF4-FFF2-40B4-BE49-F238E27FC236}">
                <a16:creationId xmlns:a16="http://schemas.microsoft.com/office/drawing/2014/main" id="{3FB8D9F5-643B-4E1F-9DBB-6AD1465D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386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프로젝트</a:t>
            </a:r>
          </a:p>
        </p:txBody>
      </p:sp>
      <p:sp>
        <p:nvSpPr>
          <p:cNvPr id="15" name="결과물을 만들고 점검">
            <a:extLst xmlns:a="http://schemas.openxmlformats.org/drawingml/2006/main">
              <a:ext uri="{FF2B5EF4-FFF2-40B4-BE49-F238E27FC236}">
                <a16:creationId xmlns:a16="http://schemas.microsoft.com/office/drawing/2014/main" id="{8FCDC831-8DB4-4C08-992C-1F01D0E4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24350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결과물을 만들고 점검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6F8F9-DD9B-4485-BF28-D920B1B4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153150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이름보다 수업 시간에 학습자가 실제로 무엇을 하는지가 기준입니다">
            <a:extLst xmlns:a="http://schemas.openxmlformats.org/drawingml/2006/main">
              <a:ext uri="{FF2B5EF4-FFF2-40B4-BE49-F238E27FC236}">
                <a16:creationId xmlns:a16="http://schemas.microsoft.com/office/drawing/2014/main" id="{E36F2959-CF6E-44D7-ABB4-20A67F98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23887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이름보다 수업 시간에 학습자가 실제로 무엇을 하는지가 기준입니다</a:t>
            </a:r>
          </a:p>
        </p:txBody>
      </p:sp>
    </p:spTree>
    <p:extLst>
      <p:ext uri="{BB962C8B-B14F-4D97-AF65-F5344CB8AC3E}">
        <p14:creationId xmlns:p14="http://schemas.microsoft.com/office/powerpoint/2010/main" val="18327664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예시: 정치 체제 수업의 세 가지 진행안">
            <a:extLst xmlns:a="http://schemas.openxmlformats.org/drawingml/2006/main">
              <a:ext uri="{FF2B5EF4-FFF2-40B4-BE49-F238E27FC236}">
                <a16:creationId xmlns:a16="http://schemas.microsoft.com/office/drawing/2014/main" id="{91C30ED8-54CF-4E7E-ABE9-35C76036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예시: 정치 체제 수업의 세 가지 진행안</a:t>
            </a:r>
          </a:p>
        </p:txBody>
      </p:sp>
      <p:sp>
        <p:nvSpPr>
          <p:cNvPr id="2" name="예시">
            <a:extLst xmlns:a="http://schemas.openxmlformats.org/drawingml/2006/main">
              <a:ext uri="{FF2B5EF4-FFF2-40B4-BE49-F238E27FC236}">
                <a16:creationId xmlns:a16="http://schemas.microsoft.com/office/drawing/2014/main" id="{BE178889-B857-4E99-B6D7-C8C0C561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예시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A6304A67-CB1E-4B80-AB39-8D8D9CBB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15</a:t>
            </a:r>
          </a:p>
        </p:txBody>
      </p:sp>
      <p:sp>
        <p:nvSpPr>
          <p:cNvPr id="4" name="진행안">
            <a:extLst xmlns:a="http://schemas.openxmlformats.org/drawingml/2006/main">
              <a:ext uri="{FF2B5EF4-FFF2-40B4-BE49-F238E27FC236}">
                <a16:creationId xmlns:a16="http://schemas.microsoft.com/office/drawing/2014/main" id="{1423EBC0-94C7-47FC-B83C-4C7093B5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진행안</a:t>
            </a:r>
          </a:p>
        </p:txBody>
      </p:sp>
      <p:sp>
        <p:nvSpPr>
          <p:cNvPr id="5" name="학습자가 하는 일">
            <a:extLst xmlns:a="http://schemas.openxmlformats.org/drawingml/2006/main">
              <a:ext uri="{FF2B5EF4-FFF2-40B4-BE49-F238E27FC236}">
                <a16:creationId xmlns:a16="http://schemas.microsoft.com/office/drawing/2014/main" id="{F083A9EE-0ED0-4660-B928-6678E219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381125"/>
            <a:ext cx="3952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학습자가 하는 일</a:t>
            </a:r>
          </a:p>
        </p:txBody>
      </p:sp>
      <p:sp>
        <p:nvSpPr>
          <p:cNvPr id="6" name="장점">
            <a:extLst xmlns:a="http://schemas.openxmlformats.org/drawingml/2006/main">
              <a:ext uri="{FF2B5EF4-FFF2-40B4-BE49-F238E27FC236}">
                <a16:creationId xmlns:a16="http://schemas.microsoft.com/office/drawing/2014/main" id="{02DAFC05-667C-475F-8F44-FCFFF0E4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81125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장점</a:t>
            </a:r>
          </a:p>
        </p:txBody>
      </p:sp>
      <p:sp>
        <p:nvSpPr>
          <p:cNvPr id="7" name="주의점">
            <a:extLst xmlns:a="http://schemas.openxmlformats.org/drawingml/2006/main">
              <a:ext uri="{FF2B5EF4-FFF2-40B4-BE49-F238E27FC236}">
                <a16:creationId xmlns:a16="http://schemas.microsoft.com/office/drawing/2014/main" id="{708DEB35-5599-4990-9E84-68467AD0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81125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주의점</a:t>
            </a:r>
          </a:p>
        </p:txBody>
      </p:sp>
      <p:sp>
        <p:nvSpPr>
          <p:cNvPr id="8" name="협동 조사형">
            <a:extLst xmlns:a="http://schemas.openxmlformats.org/drawingml/2006/main">
              <a:ext uri="{FF2B5EF4-FFF2-40B4-BE49-F238E27FC236}">
                <a16:creationId xmlns:a16="http://schemas.microsoft.com/office/drawing/2014/main" id="{192B4AA6-B549-4064-9798-76974C67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협동 조사형</a:t>
            </a:r>
          </a:p>
        </p:txBody>
      </p:sp>
      <p:sp>
        <p:nvSpPr>
          <p:cNvPr id="9" name="국가별 자료 조사와 상호 설명">
            <a:extLst xmlns:a="http://schemas.openxmlformats.org/drawingml/2006/main">
              <a:ext uri="{FF2B5EF4-FFF2-40B4-BE49-F238E27FC236}">
                <a16:creationId xmlns:a16="http://schemas.microsoft.com/office/drawing/2014/main" id="{68CB6595-1B2F-4251-B6C1-40AEA80D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00250"/>
            <a:ext cx="3952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국가별 자료 조사와 상호 설명</a:t>
            </a:r>
          </a:p>
        </p:txBody>
      </p:sp>
      <p:sp>
        <p:nvSpPr>
          <p:cNvPr id="10" name="원계획과 잘 맞음">
            <a:extLst xmlns:a="http://schemas.openxmlformats.org/drawingml/2006/main">
              <a:ext uri="{FF2B5EF4-FFF2-40B4-BE49-F238E27FC236}">
                <a16:creationId xmlns:a16="http://schemas.microsoft.com/office/drawing/2014/main" id="{F6A70CF8-5613-4B49-A141-F632637A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원계획과 잘 맞음</a:t>
            </a:r>
          </a:p>
        </p:txBody>
      </p:sp>
      <p:sp>
        <p:nvSpPr>
          <p:cNvPr id="11" name="자료 수준 차이">
            <a:extLst xmlns:a="http://schemas.openxmlformats.org/drawingml/2006/main">
              <a:ext uri="{FF2B5EF4-FFF2-40B4-BE49-F238E27FC236}">
                <a16:creationId xmlns:a16="http://schemas.microsoft.com/office/drawing/2014/main" id="{527FF92C-F1BE-498B-82A5-B5533581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2428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자료 수준 차이</a:t>
            </a:r>
          </a:p>
        </p:txBody>
      </p:sp>
      <p:sp>
        <p:nvSpPr>
          <p:cNvPr id="12" name="비교 토론형">
            <a:extLst xmlns:a="http://schemas.openxmlformats.org/drawingml/2006/main">
              <a:ext uri="{FF2B5EF4-FFF2-40B4-BE49-F238E27FC236}">
                <a16:creationId xmlns:a16="http://schemas.microsoft.com/office/drawing/2014/main" id="{C5DF0593-65E8-40E9-9686-619BEF72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670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비교 토론형</a:t>
            </a:r>
          </a:p>
        </p:txBody>
      </p:sp>
      <p:sp>
        <p:nvSpPr>
          <p:cNvPr id="13" name="공통 기준으로 비교하고 근거 말하기">
            <a:extLst xmlns:a="http://schemas.openxmlformats.org/drawingml/2006/main">
              <a:ext uri="{FF2B5EF4-FFF2-40B4-BE49-F238E27FC236}">
                <a16:creationId xmlns:a16="http://schemas.microsoft.com/office/drawing/2014/main" id="{477C4337-491C-41F5-AF56-D9B89205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67050"/>
            <a:ext cx="3952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공통 기준으로 비교하고 근거 말하기</a:t>
            </a:r>
          </a:p>
        </p:txBody>
      </p:sp>
      <p:sp>
        <p:nvSpPr>
          <p:cNvPr id="14" name="깊은 비교 가능">
            <a:extLst xmlns:a="http://schemas.openxmlformats.org/drawingml/2006/main">
              <a:ext uri="{FF2B5EF4-FFF2-40B4-BE49-F238E27FC236}">
                <a16:creationId xmlns:a16="http://schemas.microsoft.com/office/drawing/2014/main" id="{BB4416D9-CC70-43DF-9691-3F094E81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깊은 비교 가능</a:t>
            </a:r>
          </a:p>
        </p:txBody>
      </p:sp>
      <p:sp>
        <p:nvSpPr>
          <p:cNvPr id="15" name="토론 시간 필요">
            <a:extLst xmlns:a="http://schemas.openxmlformats.org/drawingml/2006/main">
              <a:ext uri="{FF2B5EF4-FFF2-40B4-BE49-F238E27FC236}">
                <a16:creationId xmlns:a16="http://schemas.microsoft.com/office/drawing/2014/main" id="{70B7B531-1A93-438C-9E17-952F7FBE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67050"/>
            <a:ext cx="2428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토론 시간 필요</a:t>
            </a:r>
          </a:p>
        </p:txBody>
      </p:sp>
      <p:sp>
        <p:nvSpPr>
          <p:cNvPr id="16" name="개념 사례형">
            <a:extLst xmlns:a="http://schemas.openxmlformats.org/drawingml/2006/main">
              <a:ext uri="{FF2B5EF4-FFF2-40B4-BE49-F238E27FC236}">
                <a16:creationId xmlns:a16="http://schemas.microsoft.com/office/drawing/2014/main" id="{7F2DAC29-D62C-478B-923A-C30D49E9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338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개념 사례형</a:t>
            </a:r>
          </a:p>
        </p:txBody>
      </p:sp>
      <p:sp>
        <p:nvSpPr>
          <p:cNvPr id="17" name="개념 설명 뒤 국가 사례 해석">
            <a:extLst xmlns:a="http://schemas.openxmlformats.org/drawingml/2006/main">
              <a:ext uri="{FF2B5EF4-FFF2-40B4-BE49-F238E27FC236}">
                <a16:creationId xmlns:a16="http://schemas.microsoft.com/office/drawing/2014/main" id="{D70D5AF7-56C2-419C-BF18-961F59BC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133850"/>
            <a:ext cx="3952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개념 설명 뒤 국가 사례 해석</a:t>
            </a:r>
          </a:p>
        </p:txBody>
      </p:sp>
      <p:sp>
        <p:nvSpPr>
          <p:cNvPr id="18" name="공통 이해가 빠름">
            <a:extLst xmlns:a="http://schemas.openxmlformats.org/drawingml/2006/main">
              <a:ext uri="{FF2B5EF4-FFF2-40B4-BE49-F238E27FC236}">
                <a16:creationId xmlns:a16="http://schemas.microsoft.com/office/drawing/2014/main" id="{A4B02DDD-C4D6-4F13-B209-A2334A29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공통 이해가 빠름</a:t>
            </a:r>
          </a:p>
        </p:txBody>
      </p:sp>
      <p:sp>
        <p:nvSpPr>
          <p:cNvPr id="19" name="학습자가 수동적일 수 있음">
            <a:extLst xmlns:a="http://schemas.openxmlformats.org/drawingml/2006/main">
              <a:ext uri="{FF2B5EF4-FFF2-40B4-BE49-F238E27FC236}">
                <a16:creationId xmlns:a16="http://schemas.microsoft.com/office/drawing/2014/main" id="{ABE99B14-77D6-4961-9219-28AE7056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33850"/>
            <a:ext cx="2428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학습자가 수동적일 수 있음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FFE342-E0A5-43A0-85D6-DCC52A52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153150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예시 선택  중심은 협동 조사, 보조는 비교 토론과 시뮬레이션">
            <a:extLst xmlns:a="http://schemas.openxmlformats.org/drawingml/2006/main">
              <a:ext uri="{FF2B5EF4-FFF2-40B4-BE49-F238E27FC236}">
                <a16:creationId xmlns:a16="http://schemas.microsoft.com/office/drawing/2014/main" id="{29309E41-A0BC-4AC3-8133-F150E2B7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23887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예시 선택  중심은 협동 조사, 보조는 비교 토론과 시뮬레이션</a:t>
            </a:r>
          </a:p>
        </p:txBody>
      </p:sp>
    </p:spTree>
    <p:extLst>
      <p:ext uri="{BB962C8B-B14F-4D97-AF65-F5344CB8AC3E}">
        <p14:creationId xmlns:p14="http://schemas.microsoft.com/office/powerpoint/2010/main" val="7867953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내가 고를 것: 중심 방식과 보조 방식">
            <a:extLst xmlns:a="http://schemas.openxmlformats.org/drawingml/2006/main">
              <a:ext uri="{FF2B5EF4-FFF2-40B4-BE49-F238E27FC236}">
                <a16:creationId xmlns:a16="http://schemas.microsoft.com/office/drawing/2014/main" id="{7342876B-076C-4282-B424-B03A8CF5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내가 고를 것: 중심 방식과 보조 방식</a:t>
            </a:r>
          </a:p>
        </p:txBody>
      </p:sp>
      <p:sp>
        <p:nvSpPr>
          <p:cNvPr id="2" name="내가 결정">
            <a:extLst xmlns:a="http://schemas.openxmlformats.org/drawingml/2006/main">
              <a:ext uri="{FF2B5EF4-FFF2-40B4-BE49-F238E27FC236}">
                <a16:creationId xmlns:a16="http://schemas.microsoft.com/office/drawing/2014/main" id="{E6A5E16D-8468-4822-AC38-EC71C4BD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내가 결정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7AA70189-DA30-4DE2-BEEE-14C8942D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16</a:t>
            </a:r>
          </a:p>
        </p:txBody>
      </p:sp>
      <p:sp>
        <p:nvSpPr>
          <p:cNvPr id="4" name="중심 방식">
            <a:extLst xmlns:a="http://schemas.openxmlformats.org/drawingml/2006/main">
              <a:ext uri="{FF2B5EF4-FFF2-40B4-BE49-F238E27FC236}">
                <a16:creationId xmlns:a16="http://schemas.microsoft.com/office/drawing/2014/main" id="{C40A456D-1C46-483C-91B9-E50FCC6E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중심 방식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D2D1B-616E-44A7-8436-9CB1842D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3350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보조 방식">
            <a:extLst xmlns:a="http://schemas.openxmlformats.org/drawingml/2006/main">
              <a:ext uri="{FF2B5EF4-FFF2-40B4-BE49-F238E27FC236}">
                <a16:creationId xmlns:a16="http://schemas.microsoft.com/office/drawing/2014/main" id="{C69EA4A5-B786-411E-8A11-2523DBA2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보조 방식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72BF5-D3F0-4240-9F93-9768B588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0980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반드시 유지할 활동">
            <a:extLst xmlns:a="http://schemas.openxmlformats.org/drawingml/2006/main">
              <a:ext uri="{FF2B5EF4-FFF2-40B4-BE49-F238E27FC236}">
                <a16:creationId xmlns:a16="http://schemas.microsoft.com/office/drawing/2014/main" id="{4DB23FE7-A66D-43BF-9C15-06C25A1B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반드시 유지할 활동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A1DF6-D4C6-4FE5-AACE-E82DA309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8610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줄이거나 제외할 활동">
            <a:extLst xmlns:a="http://schemas.openxmlformats.org/drawingml/2006/main">
              <a:ext uri="{FF2B5EF4-FFF2-40B4-BE49-F238E27FC236}">
                <a16:creationId xmlns:a16="http://schemas.microsoft.com/office/drawing/2014/main" id="{6E025942-5940-40A7-88FF-D336C9CE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줄이거나 제외할 활동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CB1A7-80DA-40E0-9D22-35DB78F7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6240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아직 결정하지 못한 것">
            <a:extLst xmlns:a="http://schemas.openxmlformats.org/drawingml/2006/main">
              <a:ext uri="{FF2B5EF4-FFF2-40B4-BE49-F238E27FC236}">
                <a16:creationId xmlns:a16="http://schemas.microsoft.com/office/drawing/2014/main" id="{F80F7996-466E-493D-8FDE-38F9EBDC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아직 결정하지 못한 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D20CF4-9A50-404B-A888-16EB3400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3870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636B8E-E9A1-4535-A30E-82BA0CEC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153150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AI의 추천은 참고하고, 선택과 시간 배분은 내가 정합니다">
            <a:extLst xmlns:a="http://schemas.openxmlformats.org/drawingml/2006/main">
              <a:ext uri="{FF2B5EF4-FFF2-40B4-BE49-F238E27FC236}">
                <a16:creationId xmlns:a16="http://schemas.microsoft.com/office/drawing/2014/main" id="{D78703B6-274A-494F-923B-8DC24B33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23887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AI의 추천은 참고하고, 선택과 시간 배분은 내가 정합니다</a:t>
            </a:r>
          </a:p>
        </p:txBody>
      </p:sp>
    </p:spTree>
    <p:extLst>
      <p:ext uri="{BB962C8B-B14F-4D97-AF65-F5344CB8AC3E}">
        <p14:creationId xmlns:p14="http://schemas.microsoft.com/office/powerpoint/2010/main" val="8713122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선택한 내용을 AI에게 다시 알려주기">
            <a:extLst xmlns:a="http://schemas.openxmlformats.org/drawingml/2006/main">
              <a:ext uri="{FF2B5EF4-FFF2-40B4-BE49-F238E27FC236}">
                <a16:creationId xmlns:a16="http://schemas.microsoft.com/office/drawing/2014/main" id="{76602F19-077D-4B07-99E0-A808DA1A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선택한 내용을 AI에게 다시 알려주기</a:t>
            </a:r>
          </a:p>
        </p:txBody>
      </p:sp>
      <p:sp>
        <p:nvSpPr>
          <p:cNvPr id="2" name="따라하기">
            <a:extLst xmlns:a="http://schemas.openxmlformats.org/drawingml/2006/main">
              <a:ext uri="{FF2B5EF4-FFF2-40B4-BE49-F238E27FC236}">
                <a16:creationId xmlns:a16="http://schemas.microsoft.com/office/drawing/2014/main" id="{B9EE4C06-31CB-4239-8BDF-283095E6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따라하기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5A6491D4-9A59-4E57-982C-32586702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17</a:t>
            </a:r>
          </a:p>
        </p:txBody>
      </p:sp>
      <p:sp>
        <p:nvSpPr>
          <p:cNvPr id="4" name="내 선택을 채워서 전송">
            <a:extLst xmlns:a="http://schemas.openxmlformats.org/drawingml/2006/main">
              <a:ext uri="{FF2B5EF4-FFF2-40B4-BE49-F238E27FC236}">
                <a16:creationId xmlns:a16="http://schemas.microsoft.com/office/drawing/2014/main" id="{E61BE7DE-51B1-4FEF-A343-4002FA8A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573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내 선택을 채워서 전송</a:t>
            </a:r>
          </a:p>
        </p:txBody>
      </p:sp>
      <p:sp>
        <p:nvSpPr>
          <p:cNvPr id="5" name="중심 방식은 [            ]입니다. 보조 방식은 [            ] 구간에 사용합">
            <a:extLst xmlns:a="http://schemas.openxmlformats.org/drawingml/2006/main">
              <a:ext uri="{FF2B5EF4-FFF2-40B4-BE49-F238E27FC236}">
                <a16:creationId xmlns:a16="http://schemas.microsoft.com/office/drawing/2014/main" id="{3D294534-EA4F-4485-BB63-80968D6F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09550" tIns="209550" rIns="209550" bIns="2095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중심 방식은 [            ]입니다.</a:t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보조 방식은 [            ] 구간에 사용합니다.</a:t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반드시 유지할 활동은 [                         ]입니다.</a:t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줄이거나 제외할 활동은 [                         ]입니다.</a:t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아직 결정하지 못한 것은 [                         ]입니다.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이 선택을 다음 조사와 수업 순서의 기준으로 사용해줘.</a:t>
            </a:r>
          </a:p>
        </p:txBody>
      </p:sp>
      <p:sp>
        <p:nvSpPr>
          <p:cNvPr id="6" name="확인  AI 응답에 내 선택이 그대로 반영되었는지 본다">
            <a:extLst xmlns:a="http://schemas.openxmlformats.org/drawingml/2006/main">
              <a:ext uri="{FF2B5EF4-FFF2-40B4-BE49-F238E27FC236}">
                <a16:creationId xmlns:a16="http://schemas.microsoft.com/office/drawing/2014/main" id="{E9D9DA2F-0665-4690-BD7A-989F1ED5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86375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확인  AI 응답에 내 선택이 그대로 반영되었는지 본다</a:t>
            </a:r>
          </a:p>
        </p:txBody>
      </p:sp>
    </p:spTree>
    <p:extLst>
      <p:ext uri="{BB962C8B-B14F-4D97-AF65-F5344CB8AC3E}">
        <p14:creationId xmlns:p14="http://schemas.microsoft.com/office/powerpoint/2010/main" val="1925927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자료 검색 전에 빠진 것부터 찾는 이유">
            <a:extLst xmlns:a="http://schemas.openxmlformats.org/drawingml/2006/main">
              <a:ext uri="{FF2B5EF4-FFF2-40B4-BE49-F238E27FC236}">
                <a16:creationId xmlns:a16="http://schemas.microsoft.com/office/drawing/2014/main" id="{65C019EF-843E-4A37-AFDE-DD8FA96F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자료 검색 전에 빠진 것부터 찾는 이유</a:t>
            </a:r>
          </a:p>
        </p:txBody>
      </p:sp>
      <p:sp>
        <p:nvSpPr>
          <p:cNvPr id="2" name="왜?">
            <a:extLst xmlns:a="http://schemas.openxmlformats.org/drawingml/2006/main">
              <a:ext uri="{FF2B5EF4-FFF2-40B4-BE49-F238E27FC236}">
                <a16:creationId xmlns:a16="http://schemas.microsoft.com/office/drawing/2014/main" id="{CB0AA900-1EA4-479E-9195-98868861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왜?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FF8B421C-73C9-420E-B39A-B155F365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18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9797c353342b9"/>
          <a:stretch xmlns:a="http://schemas.openxmlformats.org/drawingml/2006/main"/>
        </p:blipFill>
        <p:spPr>
          <a:xfrm xmlns:a="http://schemas.openxmlformats.org/drawingml/2006/main">
            <a:off x="5143500" y="1421857"/>
            <a:ext cx="6286500" cy="3538036"/>
          </a:xfrm>
          <a:prstGeom xmlns:a="http://schemas.openxmlformats.org/drawingml/2006/main" prst="rect">
            <a:avLst/>
          </a:prstGeom>
        </p:spPr>
      </p:pic>
      <p:sp>
        <p:nvSpPr>
          <p:cNvPr id="5" name="검색부터 시작하면">
            <a:extLst xmlns:a="http://schemas.openxmlformats.org/drawingml/2006/main">
              <a:ext uri="{FF2B5EF4-FFF2-40B4-BE49-F238E27FC236}">
                <a16:creationId xmlns:a16="http://schemas.microsoft.com/office/drawing/2014/main" id="{47C10A96-06C9-4FDC-AAE1-94C50FCA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175" b="1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검색부터 시작하면</a:t>
            </a:r>
          </a:p>
        </p:txBody>
      </p:sp>
      <p:sp>
        <p:nvSpPr>
          <p:cNvPr id="6" name="흥미로운 자료가 많아지고 정작 어디에 쓸지 모르게 됩니다">
            <a:extLst xmlns:a="http://schemas.openxmlformats.org/drawingml/2006/main">
              <a:ext uri="{FF2B5EF4-FFF2-40B4-BE49-F238E27FC236}">
                <a16:creationId xmlns:a16="http://schemas.microsoft.com/office/drawing/2014/main" id="{B5252E08-C51F-478E-87DA-CD8034E8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흥미로운 자료가 많아지고</a:t>
            </a:r>
          </a:p>
          <a:p xmlns:a="http://schemas.openxmlformats.org/drawingml/2006/main">
            <a:pPr algn="l">
              <a:defRPr sz="19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정작 어디에 쓸지 모르게 됩니다</a:t>
            </a:r>
          </a:p>
        </p:txBody>
      </p:sp>
      <p:sp>
        <p:nvSpPr>
          <p:cNvPr id="7" name="먼저 적을 것">
            <a:extLst xmlns:a="http://schemas.openxmlformats.org/drawingml/2006/main">
              <a:ext uri="{FF2B5EF4-FFF2-40B4-BE49-F238E27FC236}">
                <a16:creationId xmlns:a16="http://schemas.microsoft.com/office/drawing/2014/main" id="{9E1EE7A5-A3E5-4CF6-9ACA-9AEB4BBF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1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먼저 적을 것</a:t>
            </a:r>
          </a:p>
        </p:txBody>
      </p:sp>
      <p:sp>
        <p:nvSpPr>
          <p:cNvPr id="8" name="무엇이 비었나 왜 필요한가 어느 장면에 쓸까">
            <a:extLst xmlns:a="http://schemas.openxmlformats.org/drawingml/2006/main">
              <a:ext uri="{FF2B5EF4-FFF2-40B4-BE49-F238E27FC236}">
                <a16:creationId xmlns:a16="http://schemas.microsoft.com/office/drawing/2014/main" id="{C45746BA-6CB0-4798-98ED-6C3E01DD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342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무엇이 비었나</a:t>
            </a:r>
          </a:p>
          <a:p xmlns:a="http://schemas.openxmlformats.org/drawingml/2006/main">
            <a:pPr algn="l">
              <a:defRPr sz="19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왜 필요한가</a:t>
            </a:r>
          </a:p>
          <a:p xmlns:a="http://schemas.openxmlformats.org/drawingml/2006/main">
            <a:pPr algn="l">
              <a:defRPr sz="19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어느 장면에 쓸까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34D94-7DE7-4C69-8B71-35573E29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153150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사용할 장면이 없는 자료는 아직 찾지 않습니다">
            <a:extLst xmlns:a="http://schemas.openxmlformats.org/drawingml/2006/main">
              <a:ext uri="{FF2B5EF4-FFF2-40B4-BE49-F238E27FC236}">
                <a16:creationId xmlns:a16="http://schemas.microsoft.com/office/drawing/2014/main" id="{ABC5D708-CCA3-461E-A551-847BA0BA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23887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사용할 장면이 없는 자료는 아직 찾지 않습니다</a:t>
            </a:r>
          </a:p>
        </p:txBody>
      </p:sp>
    </p:spTree>
    <p:extLst>
      <p:ext uri="{BB962C8B-B14F-4D97-AF65-F5344CB8AC3E}">
        <p14:creationId xmlns:p14="http://schemas.microsoft.com/office/powerpoint/2010/main" val="9432391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세 번째 요청: 더 필요한 자료만 찾기">
            <a:extLst xmlns:a="http://schemas.openxmlformats.org/drawingml/2006/main">
              <a:ext uri="{FF2B5EF4-FFF2-40B4-BE49-F238E27FC236}">
                <a16:creationId xmlns:a16="http://schemas.microsoft.com/office/drawing/2014/main" id="{30C857BA-170D-4747-8186-A6E8BC52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세 번째 요청: 더 필요한 자료만 찾기</a:t>
            </a:r>
          </a:p>
        </p:txBody>
      </p:sp>
      <p:sp>
        <p:nvSpPr>
          <p:cNvPr id="2" name="따라하기">
            <a:extLst xmlns:a="http://schemas.openxmlformats.org/drawingml/2006/main">
              <a:ext uri="{FF2B5EF4-FFF2-40B4-BE49-F238E27FC236}">
                <a16:creationId xmlns:a16="http://schemas.microsoft.com/office/drawing/2014/main" id="{7234EF85-356A-4328-891F-4BE05C79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따라하기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D9883316-D1A1-468C-A77F-68F4B860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19</a:t>
            </a:r>
          </a:p>
        </p:txBody>
      </p:sp>
      <p:sp>
        <p:nvSpPr>
          <p:cNvPr id="4" name="복사해서 사용">
            <a:extLst xmlns:a="http://schemas.openxmlformats.org/drawingml/2006/main">
              <a:ext uri="{FF2B5EF4-FFF2-40B4-BE49-F238E27FC236}">
                <a16:creationId xmlns:a16="http://schemas.microsoft.com/office/drawing/2014/main" id="{736FF70C-24EC-4F5B-9636-DAA4C0BA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573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복사해서 사용</a:t>
            </a:r>
          </a:p>
        </p:txBody>
      </p:sp>
      <p:sp>
        <p:nvSpPr>
          <p:cNvPr id="5" name="선택한 수업 방식으로 교안을 만들 때 현재 자료만으로 부족한 부분을 찾아줘.  각 항목마다 다음을 ">
            <a:extLst xmlns:a="http://schemas.openxmlformats.org/drawingml/2006/main">
              <a:ext uri="{FF2B5EF4-FFF2-40B4-BE49-F238E27FC236}">
                <a16:creationId xmlns:a16="http://schemas.microsoft.com/office/drawing/2014/main" id="{BE7BB720-0F1C-4188-86E2-80C80F5C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09550" tIns="209550" rIns="209550" bIns="2095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선택한 수업 방식으로 교안을 만들 때</a:t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현재 자료만으로 부족한 부분을 찾아줘.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각 항목마다 다음을 적어줘.</a:t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- 필요한 이유</a:t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- 실제로 사용할 수업 장면</a:t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- 우선 확인할 출처</a:t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- 자료가 없을 때의 대안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검색은 아직 하지 말고 조사할 목록부터 보여줘.</a:t>
            </a:r>
          </a:p>
        </p:txBody>
      </p:sp>
      <p:sp>
        <p:nvSpPr>
          <p:cNvPr id="6" name="실습  조사 목록에서 실제로 찾을 항목만 표시한다">
            <a:extLst xmlns:a="http://schemas.openxmlformats.org/drawingml/2006/main">
              <a:ext uri="{FF2B5EF4-FFF2-40B4-BE49-F238E27FC236}">
                <a16:creationId xmlns:a16="http://schemas.microsoft.com/office/drawing/2014/main" id="{2C06A1AD-9CE5-4DC3-AE66-22BBBE6B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86375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  조사 목록에서 실제로 찾을 항목만 표시한다</a:t>
            </a:r>
          </a:p>
        </p:txBody>
      </p:sp>
    </p:spTree>
    <p:extLst>
      <p:ext uri="{BB962C8B-B14F-4D97-AF65-F5344CB8AC3E}">
        <p14:creationId xmlns:p14="http://schemas.microsoft.com/office/powerpoint/2010/main" val="13680278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예시: 정치 체제 수업에서 더 필요한 자료">
            <a:extLst xmlns:a="http://schemas.openxmlformats.org/drawingml/2006/main">
              <a:ext uri="{FF2B5EF4-FFF2-40B4-BE49-F238E27FC236}">
                <a16:creationId xmlns:a16="http://schemas.microsoft.com/office/drawing/2014/main" id="{0E4A29EE-E248-4100-9A5E-257EF73B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예시: 정치 체제 수업에서 더 필요한 자료</a:t>
            </a:r>
          </a:p>
        </p:txBody>
      </p:sp>
      <p:sp>
        <p:nvSpPr>
          <p:cNvPr id="2" name="예시">
            <a:extLst xmlns:a="http://schemas.openxmlformats.org/drawingml/2006/main">
              <a:ext uri="{FF2B5EF4-FFF2-40B4-BE49-F238E27FC236}">
                <a16:creationId xmlns:a16="http://schemas.microsoft.com/office/drawing/2014/main" id="{7A456AE4-4B44-4495-B3FB-FF5956A8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예시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4C4718D7-43FC-4783-AAF2-E694A506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20</a:t>
            </a:r>
          </a:p>
        </p:txBody>
      </p:sp>
      <p:sp>
        <p:nvSpPr>
          <p:cNvPr id="4" name="빠진 자료">
            <a:extLst xmlns:a="http://schemas.openxmlformats.org/drawingml/2006/main">
              <a:ext uri="{FF2B5EF4-FFF2-40B4-BE49-F238E27FC236}">
                <a16:creationId xmlns:a16="http://schemas.microsoft.com/office/drawing/2014/main" id="{24189976-A6C3-4D5E-890E-4B0248A8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0"/>
            <a:ext cx="2524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빠진 자료</a:t>
            </a:r>
          </a:p>
        </p:txBody>
      </p:sp>
      <p:sp>
        <p:nvSpPr>
          <p:cNvPr id="5" name="필요한 이유">
            <a:extLst xmlns:a="http://schemas.openxmlformats.org/drawingml/2006/main">
              <a:ext uri="{FF2B5EF4-FFF2-40B4-BE49-F238E27FC236}">
                <a16:creationId xmlns:a16="http://schemas.microsoft.com/office/drawing/2014/main" id="{6461BC40-B559-4A0E-89B8-D4FC706F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3350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필요한 이유</a:t>
            </a:r>
          </a:p>
        </p:txBody>
      </p:sp>
      <p:sp>
        <p:nvSpPr>
          <p:cNvPr id="6" name="사용 장면">
            <a:extLst xmlns:a="http://schemas.openxmlformats.org/drawingml/2006/main">
              <a:ext uri="{FF2B5EF4-FFF2-40B4-BE49-F238E27FC236}">
                <a16:creationId xmlns:a16="http://schemas.microsoft.com/office/drawing/2014/main" id="{2B192C3E-30E1-4DA9-8319-0141CE51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33500"/>
            <a:ext cx="2333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사용 장면</a:t>
            </a:r>
          </a:p>
        </p:txBody>
      </p:sp>
      <p:sp>
        <p:nvSpPr>
          <p:cNvPr id="7" name="먼저 볼 곳">
            <a:extLst xmlns:a="http://schemas.openxmlformats.org/drawingml/2006/main">
              <a:ext uri="{FF2B5EF4-FFF2-40B4-BE49-F238E27FC236}">
                <a16:creationId xmlns:a16="http://schemas.microsoft.com/office/drawing/2014/main" id="{66963E1B-C3B3-43B2-9C33-1C89AA64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33350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먼저 볼 곳</a:t>
            </a:r>
          </a:p>
        </p:txBody>
      </p:sp>
      <p:sp>
        <p:nvSpPr>
          <p:cNvPr id="8" name="정치 체제 기본 정의">
            <a:extLst xmlns:a="http://schemas.openxmlformats.org/drawingml/2006/main">
              <a:ext uri="{FF2B5EF4-FFF2-40B4-BE49-F238E27FC236}">
                <a16:creationId xmlns:a16="http://schemas.microsoft.com/office/drawing/2014/main" id="{2AC2E640-5CE1-4A90-81BA-1735397D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524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정치 체제 기본 정의</a:t>
            </a:r>
          </a:p>
        </p:txBody>
      </p:sp>
      <p:sp>
        <p:nvSpPr>
          <p:cNvPr id="9" name="조사 기준 통일">
            <a:extLst xmlns:a="http://schemas.openxmlformats.org/drawingml/2006/main">
              <a:ext uri="{FF2B5EF4-FFF2-40B4-BE49-F238E27FC236}">
                <a16:creationId xmlns:a16="http://schemas.microsoft.com/office/drawing/2014/main" id="{E27AD2C0-2705-47FF-9D1B-C487F58B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조사 기준 통일</a:t>
            </a:r>
          </a:p>
        </p:txBody>
      </p:sp>
      <p:sp>
        <p:nvSpPr>
          <p:cNvPr id="10" name="개념 설명">
            <a:extLst xmlns:a="http://schemas.openxmlformats.org/drawingml/2006/main">
              <a:ext uri="{FF2B5EF4-FFF2-40B4-BE49-F238E27FC236}">
                <a16:creationId xmlns:a16="http://schemas.microsoft.com/office/drawing/2014/main" id="{46AFBF75-9F19-46E2-99AF-346D577F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2333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개념 설명</a:t>
            </a:r>
          </a:p>
        </p:txBody>
      </p:sp>
      <p:sp>
        <p:nvSpPr>
          <p:cNvPr id="11" name="교과서·공식 기관">
            <a:extLst xmlns:a="http://schemas.openxmlformats.org/drawingml/2006/main">
              <a:ext uri="{FF2B5EF4-FFF2-40B4-BE49-F238E27FC236}">
                <a16:creationId xmlns:a16="http://schemas.microsoft.com/office/drawing/2014/main" id="{09241ABC-BB27-4662-AEE7-78D6043E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교과서·공식 기관</a:t>
            </a:r>
          </a:p>
        </p:txBody>
      </p:sp>
      <p:sp>
        <p:nvSpPr>
          <p:cNvPr id="12" name="국가별 정치 제도">
            <a:extLst xmlns:a="http://schemas.openxmlformats.org/drawingml/2006/main">
              <a:ext uri="{FF2B5EF4-FFF2-40B4-BE49-F238E27FC236}">
                <a16:creationId xmlns:a16="http://schemas.microsoft.com/office/drawing/2014/main" id="{3B936D1C-EA6D-4869-A273-50479410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28925"/>
            <a:ext cx="2524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국가별 정치 제도</a:t>
            </a:r>
          </a:p>
        </p:txBody>
      </p:sp>
      <p:sp>
        <p:nvSpPr>
          <p:cNvPr id="13" name="현재 제도 확인">
            <a:extLst xmlns:a="http://schemas.openxmlformats.org/drawingml/2006/main">
              <a:ext uri="{FF2B5EF4-FFF2-40B4-BE49-F238E27FC236}">
                <a16:creationId xmlns:a16="http://schemas.microsoft.com/office/drawing/2014/main" id="{CD7FCAA3-A47F-4005-8DA6-9DBAA38A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28925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현재 제도 확인</a:t>
            </a:r>
          </a:p>
        </p:txBody>
      </p:sp>
      <p:sp>
        <p:nvSpPr>
          <p:cNvPr id="14" name="전문가 조사">
            <a:extLst xmlns:a="http://schemas.openxmlformats.org/drawingml/2006/main">
              <a:ext uri="{FF2B5EF4-FFF2-40B4-BE49-F238E27FC236}">
                <a16:creationId xmlns:a16="http://schemas.microsoft.com/office/drawing/2014/main" id="{4EEFC701-43D9-4509-AADA-B579FE40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28925"/>
            <a:ext cx="2333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전문가 조사</a:t>
            </a:r>
          </a:p>
        </p:txBody>
      </p:sp>
      <p:sp>
        <p:nvSpPr>
          <p:cNvPr id="15" name="정부·의회·선거기관">
            <a:extLst xmlns:a="http://schemas.openxmlformats.org/drawingml/2006/main">
              <a:ext uri="{FF2B5EF4-FFF2-40B4-BE49-F238E27FC236}">
                <a16:creationId xmlns:a16="http://schemas.microsoft.com/office/drawing/2014/main" id="{693070D1-1064-4611-B997-69953477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28925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정부·의회·선거기관</a:t>
            </a:r>
          </a:p>
        </p:txBody>
      </p:sp>
      <p:sp>
        <p:nvSpPr>
          <p:cNvPr id="16" name="최신 지표와 뉴스">
            <a:extLst xmlns:a="http://schemas.openxmlformats.org/drawingml/2006/main">
              <a:ext uri="{FF2B5EF4-FFF2-40B4-BE49-F238E27FC236}">
                <a16:creationId xmlns:a16="http://schemas.microsoft.com/office/drawing/2014/main" id="{BDB5DD28-95E1-4275-A922-76C53E4E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05225"/>
            <a:ext cx="2524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최신 지표와 뉴스</a:t>
            </a:r>
          </a:p>
        </p:txBody>
      </p:sp>
      <p:sp>
        <p:nvSpPr>
          <p:cNvPr id="17" name="현재 사례 확인">
            <a:extLst xmlns:a="http://schemas.openxmlformats.org/drawingml/2006/main">
              <a:ext uri="{FF2B5EF4-FFF2-40B4-BE49-F238E27FC236}">
                <a16:creationId xmlns:a16="http://schemas.microsoft.com/office/drawing/2014/main" id="{5480C1BB-D743-421D-8DBF-C1C2C8EC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05225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현재 사례 확인</a:t>
            </a:r>
          </a:p>
        </p:txBody>
      </p:sp>
      <p:sp>
        <p:nvSpPr>
          <p:cNvPr id="18" name="비교 카드">
            <a:extLst xmlns:a="http://schemas.openxmlformats.org/drawingml/2006/main">
              <a:ext uri="{FF2B5EF4-FFF2-40B4-BE49-F238E27FC236}">
                <a16:creationId xmlns:a16="http://schemas.microsoft.com/office/drawing/2014/main" id="{DFBB6300-D542-4649-BDD4-6B7857AC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05225"/>
            <a:ext cx="2333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비교 카드</a:t>
            </a:r>
          </a:p>
        </p:txBody>
      </p:sp>
      <p:sp>
        <p:nvSpPr>
          <p:cNvPr id="19" name="원자료·공식 문서">
            <a:extLst xmlns:a="http://schemas.openxmlformats.org/drawingml/2006/main">
              <a:ext uri="{FF2B5EF4-FFF2-40B4-BE49-F238E27FC236}">
                <a16:creationId xmlns:a16="http://schemas.microsoft.com/office/drawing/2014/main" id="{E141CC0F-3A4E-4FB8-86A0-E1ED46F3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05225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원자료·공식 문서</a:t>
            </a:r>
          </a:p>
        </p:txBody>
      </p:sp>
      <p:sp>
        <p:nvSpPr>
          <p:cNvPr id="20" name="이미지 사용 조건">
            <a:extLst xmlns:a="http://schemas.openxmlformats.org/drawingml/2006/main">
              <a:ext uri="{FF2B5EF4-FFF2-40B4-BE49-F238E27FC236}">
                <a16:creationId xmlns:a16="http://schemas.microsoft.com/office/drawing/2014/main" id="{CDB101A3-7587-45D8-BC58-A1A9609F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81525"/>
            <a:ext cx="2524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이미지 사용 조건</a:t>
            </a:r>
          </a:p>
        </p:txBody>
      </p:sp>
      <p:sp>
        <p:nvSpPr>
          <p:cNvPr id="21" name="공개 가능 여부">
            <a:extLst xmlns:a="http://schemas.openxmlformats.org/drawingml/2006/main">
              <a:ext uri="{FF2B5EF4-FFF2-40B4-BE49-F238E27FC236}">
                <a16:creationId xmlns:a16="http://schemas.microsoft.com/office/drawing/2014/main" id="{B82ECD2A-E430-40A4-B997-2A920F28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81525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공개 가능 여부</a:t>
            </a:r>
          </a:p>
        </p:txBody>
      </p:sp>
      <p:sp>
        <p:nvSpPr>
          <p:cNvPr id="22" name="교안·홈페이지">
            <a:extLst xmlns:a="http://schemas.openxmlformats.org/drawingml/2006/main">
              <a:ext uri="{FF2B5EF4-FFF2-40B4-BE49-F238E27FC236}">
                <a16:creationId xmlns:a16="http://schemas.microsoft.com/office/drawing/2014/main" id="{FB09E205-74E6-4A4B-AEBD-3704D1F7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81525"/>
            <a:ext cx="2333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교안·홈페이지</a:t>
            </a:r>
          </a:p>
        </p:txBody>
      </p:sp>
      <p:sp>
        <p:nvSpPr>
          <p:cNvPr id="23" name="라이선스 확인">
            <a:extLst xmlns:a="http://schemas.openxmlformats.org/drawingml/2006/main">
              <a:ext uri="{FF2B5EF4-FFF2-40B4-BE49-F238E27FC236}">
                <a16:creationId xmlns:a16="http://schemas.microsoft.com/office/drawing/2014/main" id="{1A7E1E9B-5A3B-439F-BEF4-D214F0C0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81525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라이선스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B16487-37D4-4F5A-A0BA-DF09ED6D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153150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최신 자료는 출처와 기준 시점을 함께 적습니다">
            <a:extLst xmlns:a="http://schemas.openxmlformats.org/drawingml/2006/main">
              <a:ext uri="{FF2B5EF4-FFF2-40B4-BE49-F238E27FC236}">
                <a16:creationId xmlns:a16="http://schemas.microsoft.com/office/drawing/2014/main" id="{61F85F42-2D00-42D6-B709-33B8D314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23887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최신 자료는 출처와 기준 시점을 함께 적습니다</a:t>
            </a:r>
          </a:p>
        </p:txBody>
      </p:sp>
    </p:spTree>
    <p:extLst>
      <p:ext uri="{BB962C8B-B14F-4D97-AF65-F5344CB8AC3E}">
        <p14:creationId xmlns:p14="http://schemas.microsoft.com/office/powerpoint/2010/main" val="14547124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찾은 자료는 내가 사용·보류·제외한다">
            <a:extLst xmlns:a="http://schemas.openxmlformats.org/drawingml/2006/main">
              <a:ext uri="{FF2B5EF4-FFF2-40B4-BE49-F238E27FC236}">
                <a16:creationId xmlns:a16="http://schemas.microsoft.com/office/drawing/2014/main" id="{D235DD80-2398-4CBB-955D-BC99C868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찾은 자료는 내가 사용·보류·제외한다</a:t>
            </a:r>
          </a:p>
        </p:txBody>
      </p:sp>
      <p:sp>
        <p:nvSpPr>
          <p:cNvPr id="2" name="내가 결정">
            <a:extLst xmlns:a="http://schemas.openxmlformats.org/drawingml/2006/main">
              <a:ext uri="{FF2B5EF4-FFF2-40B4-BE49-F238E27FC236}">
                <a16:creationId xmlns:a16="http://schemas.microsoft.com/office/drawing/2014/main" id="{16142AD5-1316-4FA9-B13D-39C41CC1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내가 결정</a:t>
            </a:r>
          </a:p>
        </p:txBody>
      </p:sp>
      <p:sp>
        <p:nvSpPr>
          <p:cNvPr id="3" name="21">
            <a:extLst xmlns:a="http://schemas.openxmlformats.org/drawingml/2006/main">
              <a:ext uri="{FF2B5EF4-FFF2-40B4-BE49-F238E27FC236}">
                <a16:creationId xmlns:a16="http://schemas.microsoft.com/office/drawing/2014/main" id="{BF739FB3-31C0-4C18-964F-C6077F75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21</a:t>
            </a:r>
          </a:p>
        </p:txBody>
      </p:sp>
      <p:sp>
        <p:nvSpPr>
          <p:cNvPr id="4" name="자료마다 먼저 확인">
            <a:extLst xmlns:a="http://schemas.openxmlformats.org/drawingml/2006/main">
              <a:ext uri="{FF2B5EF4-FFF2-40B4-BE49-F238E27FC236}">
                <a16:creationId xmlns:a16="http://schemas.microsoft.com/office/drawing/2014/main" id="{8E4186DE-F6C3-4A7D-A3D1-76E99E88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1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자료마다 먼저 확인</a:t>
            </a:r>
          </a:p>
        </p:txBody>
      </p:sp>
      <p:sp>
        <p:nvSpPr>
          <p:cNvPr id="5" name="□ 누가 만든 자료인가">
            <a:extLst xmlns:a="http://schemas.openxmlformats.org/drawingml/2006/main">
              <a:ext uri="{FF2B5EF4-FFF2-40B4-BE49-F238E27FC236}">
                <a16:creationId xmlns:a16="http://schemas.microsoft.com/office/drawing/2014/main" id="{B8821BE1-7751-49BD-BA4C-16A190CE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누가 만든 자료인가</a:t>
            </a:r>
          </a:p>
        </p:txBody>
      </p:sp>
      <p:sp>
        <p:nvSpPr>
          <p:cNvPr id="6" name="□ 언제 발표하거나 고쳤는가">
            <a:extLst xmlns:a="http://schemas.openxmlformats.org/drawingml/2006/main">
              <a:ext uri="{FF2B5EF4-FFF2-40B4-BE49-F238E27FC236}">
                <a16:creationId xmlns:a16="http://schemas.microsoft.com/office/drawing/2014/main" id="{3E5E811C-DB64-4854-8AA9-9EB9F1E4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언제 발표하거나 고쳤는가</a:t>
            </a:r>
          </a:p>
        </p:txBody>
      </p:sp>
      <p:sp>
        <p:nvSpPr>
          <p:cNvPr id="7" name="□ 수업의 어느 장면에 쓸 것인가">
            <a:extLst xmlns:a="http://schemas.openxmlformats.org/drawingml/2006/main">
              <a:ext uri="{FF2B5EF4-FFF2-40B4-BE49-F238E27FC236}">
                <a16:creationId xmlns:a16="http://schemas.microsoft.com/office/drawing/2014/main" id="{F040C038-2089-4E43-93BB-FEF7309A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수업의 어느 장면에 쓸 것인가</a:t>
            </a:r>
          </a:p>
        </p:txBody>
      </p:sp>
      <p:sp>
        <p:nvSpPr>
          <p:cNvPr id="8" name="□ 사용 조건과 주의점은 무엇인가">
            <a:extLst xmlns:a="http://schemas.openxmlformats.org/drawingml/2006/main">
              <a:ext uri="{FF2B5EF4-FFF2-40B4-BE49-F238E27FC236}">
                <a16:creationId xmlns:a16="http://schemas.microsoft.com/office/drawing/2014/main" id="{1CCBBC5A-BD54-48DF-8411-D0FFCE8C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사용 조건과 주의점은 무엇인가</a:t>
            </a:r>
          </a:p>
        </p:txBody>
      </p:sp>
      <p:sp>
        <p:nvSpPr>
          <p:cNvPr id="9" name="사용">
            <a:extLst xmlns:a="http://schemas.openxmlformats.org/drawingml/2006/main">
              <a:ext uri="{FF2B5EF4-FFF2-40B4-BE49-F238E27FC236}">
                <a16:creationId xmlns:a16="http://schemas.microsoft.com/office/drawing/2014/main" id="{63E43522-B34D-4521-B6BF-914E0212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사용</a:t>
            </a:r>
          </a:p>
        </p:txBody>
      </p:sp>
      <p:sp>
        <p:nvSpPr>
          <p:cNvPr id="10" name="이번 교안에 넣는다">
            <a:extLst xmlns:a="http://schemas.openxmlformats.org/drawingml/2006/main">
              <a:ext uri="{FF2B5EF4-FFF2-40B4-BE49-F238E27FC236}">
                <a16:creationId xmlns:a16="http://schemas.microsoft.com/office/drawing/2014/main" id="{331A2D38-44A8-4D2D-9972-079480FE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이번 교안에 넣는다</a:t>
            </a:r>
          </a:p>
        </p:txBody>
      </p:sp>
      <p:sp>
        <p:nvSpPr>
          <p:cNvPr id="11" name="보류">
            <a:extLst xmlns:a="http://schemas.openxmlformats.org/drawingml/2006/main">
              <a:ext uri="{FF2B5EF4-FFF2-40B4-BE49-F238E27FC236}">
                <a16:creationId xmlns:a16="http://schemas.microsoft.com/office/drawing/2014/main" id="{7C77C4B4-76C2-41B2-84DD-CE67D992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05125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6D6D6D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보류</a:t>
            </a:r>
          </a:p>
        </p:txBody>
      </p:sp>
      <p:sp>
        <p:nvSpPr>
          <p:cNvPr id="12" name="확인 뒤 결정한다">
            <a:extLst xmlns:a="http://schemas.openxmlformats.org/drawingml/2006/main">
              <a:ext uri="{FF2B5EF4-FFF2-40B4-BE49-F238E27FC236}">
                <a16:creationId xmlns:a16="http://schemas.microsoft.com/office/drawing/2014/main" id="{5045355B-E894-43E2-99D5-6A6D3ADC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003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확인 뒤 결정한다</a:t>
            </a:r>
          </a:p>
        </p:txBody>
      </p:sp>
      <p:sp>
        <p:nvSpPr>
          <p:cNvPr id="13" name="제외">
            <a:extLst xmlns:a="http://schemas.openxmlformats.org/drawingml/2006/main">
              <a:ext uri="{FF2B5EF4-FFF2-40B4-BE49-F238E27FC236}">
                <a16:creationId xmlns:a16="http://schemas.microsoft.com/office/drawing/2014/main" id="{EB725ABC-F838-4090-9A30-BB652B9A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제외</a:t>
            </a:r>
          </a:p>
        </p:txBody>
      </p:sp>
      <p:sp>
        <p:nvSpPr>
          <p:cNvPr id="14" name="이번에는 쓰지 않는다">
            <a:extLst xmlns:a="http://schemas.openxmlformats.org/drawingml/2006/main">
              <a:ext uri="{FF2B5EF4-FFF2-40B4-BE49-F238E27FC236}">
                <a16:creationId xmlns:a16="http://schemas.microsoft.com/office/drawing/2014/main" id="{DCDB864C-449B-40FB-B025-D21A1E79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910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이번에는 쓰지 않는다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4B503-BCE6-4F56-9FF5-23A787F0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153150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AI가 후보를 찾고, 실제로 쓸 자료는 내가 고릅니다">
            <a:extLst xmlns:a="http://schemas.openxmlformats.org/drawingml/2006/main">
              <a:ext uri="{FF2B5EF4-FFF2-40B4-BE49-F238E27FC236}">
                <a16:creationId xmlns:a16="http://schemas.microsoft.com/office/drawing/2014/main" id="{A48CAC61-841F-4457-AB4B-6DB9FC2D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23887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AI가 후보를 찾고, 실제로 쓸 자료는 내가 고릅니다</a:t>
            </a:r>
          </a:p>
        </p:txBody>
      </p:sp>
    </p:spTree>
    <p:extLst>
      <p:ext uri="{BB962C8B-B14F-4D97-AF65-F5344CB8AC3E}">
        <p14:creationId xmlns:p14="http://schemas.microsoft.com/office/powerpoint/2010/main" val="1809733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네 번째 요청: 수업 순서 2~3개 만들기">
            <a:extLst xmlns:a="http://schemas.openxmlformats.org/drawingml/2006/main">
              <a:ext uri="{FF2B5EF4-FFF2-40B4-BE49-F238E27FC236}">
                <a16:creationId xmlns:a16="http://schemas.microsoft.com/office/drawing/2014/main" id="{539A7050-120A-4B02-B091-1A7DC71F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네 번째 요청: 수업 순서 2~3개 만들기</a:t>
            </a:r>
          </a:p>
        </p:txBody>
      </p:sp>
      <p:sp>
        <p:nvSpPr>
          <p:cNvPr id="2" name="따라하기">
            <a:extLst xmlns:a="http://schemas.openxmlformats.org/drawingml/2006/main">
              <a:ext uri="{FF2B5EF4-FFF2-40B4-BE49-F238E27FC236}">
                <a16:creationId xmlns:a16="http://schemas.microsoft.com/office/drawing/2014/main" id="{AC9280D7-25BD-4271-89A4-4DD42966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따라하기</a:t>
            </a:r>
          </a:p>
        </p:txBody>
      </p:sp>
      <p:sp>
        <p:nvSpPr>
          <p:cNvPr id="3" name="22">
            <a:extLst xmlns:a="http://schemas.openxmlformats.org/drawingml/2006/main">
              <a:ext uri="{FF2B5EF4-FFF2-40B4-BE49-F238E27FC236}">
                <a16:creationId xmlns:a16="http://schemas.microsoft.com/office/drawing/2014/main" id="{DE82D3B4-0429-4C03-946A-F1190C36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22</a:t>
            </a:r>
          </a:p>
        </p:txBody>
      </p:sp>
      <p:sp>
        <p:nvSpPr>
          <p:cNvPr id="4" name="복사해서 사용">
            <a:extLst xmlns:a="http://schemas.openxmlformats.org/drawingml/2006/main">
              <a:ext uri="{FF2B5EF4-FFF2-40B4-BE49-F238E27FC236}">
                <a16:creationId xmlns:a16="http://schemas.microsoft.com/office/drawing/2014/main" id="{FB36159F-C14F-406E-A148-147BAE5E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573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복사해서 사용</a:t>
            </a:r>
          </a:p>
        </p:txBody>
      </p:sp>
      <p:sp>
        <p:nvSpPr>
          <p:cNvPr id="5" name="확정한 수업 방식과 선택한 자료로 수업 순서 2~3개를 제안해줘.  각 안은 학습자가 실제로 하는 ">
            <a:extLst xmlns:a="http://schemas.openxmlformats.org/drawingml/2006/main">
              <a:ext uri="{FF2B5EF4-FFF2-40B4-BE49-F238E27FC236}">
                <a16:creationId xmlns:a16="http://schemas.microsoft.com/office/drawing/2014/main" id="{7F75C483-DF0B-4C3C-B6D4-CFDBD8D8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09550" tIns="209550" rIns="209550" bIns="2095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확정한 수업 방식과 선택한 자료로</a:t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수업 순서 2~3개를 제안해줘.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각 안은 학습자가 실제로 하는 행동의 순서로 쓰고,</a:t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강사의 설명량, 활동 비중, 필요한 자료, 주의점을 비교해줘.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계획서의 목표·활동·결과물·평가는 빼지 말고,</a:t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시간 조정이 필요하면 삭제 대신 가능한 대안을 보여줘.</a:t>
            </a:r>
          </a:p>
        </p:txBody>
      </p:sp>
      <p:sp>
        <p:nvSpPr>
          <p:cNvPr id="6" name="실습  세 순서에서 유지할 것과 바꿀 것을 표시한다">
            <a:extLst xmlns:a="http://schemas.openxmlformats.org/drawingml/2006/main">
              <a:ext uri="{FF2B5EF4-FFF2-40B4-BE49-F238E27FC236}">
                <a16:creationId xmlns:a16="http://schemas.microsoft.com/office/drawing/2014/main" id="{C4C2EF5D-D1F3-465D-B25A-C2623190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86375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  세 순서에서 유지할 것과 바꿀 것을 표시한다</a:t>
            </a:r>
          </a:p>
        </p:txBody>
      </p:sp>
    </p:spTree>
    <p:extLst>
      <p:ext uri="{BB962C8B-B14F-4D97-AF65-F5344CB8AC3E}">
        <p14:creationId xmlns:p14="http://schemas.microsoft.com/office/powerpoint/2010/main" val="6527097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예시: 정치 체제 수업의 세 가지 순서">
            <a:extLst xmlns:a="http://schemas.openxmlformats.org/drawingml/2006/main">
              <a:ext uri="{FF2B5EF4-FFF2-40B4-BE49-F238E27FC236}">
                <a16:creationId xmlns:a16="http://schemas.microsoft.com/office/drawing/2014/main" id="{DA78904A-B672-47C9-A694-6D0CBC80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예시: 정치 체제 수업의 세 가지 순서</a:t>
            </a:r>
          </a:p>
        </p:txBody>
      </p:sp>
      <p:sp>
        <p:nvSpPr>
          <p:cNvPr id="2" name="예시">
            <a:extLst xmlns:a="http://schemas.openxmlformats.org/drawingml/2006/main">
              <a:ext uri="{FF2B5EF4-FFF2-40B4-BE49-F238E27FC236}">
                <a16:creationId xmlns:a16="http://schemas.microsoft.com/office/drawing/2014/main" id="{19B6F750-F9BB-4A37-A8C3-5FA5C7B0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예시</a:t>
            </a:r>
          </a:p>
        </p:txBody>
      </p:sp>
      <p:sp>
        <p:nvSpPr>
          <p:cNvPr id="3" name="23">
            <a:extLst xmlns:a="http://schemas.openxmlformats.org/drawingml/2006/main">
              <a:ext uri="{FF2B5EF4-FFF2-40B4-BE49-F238E27FC236}">
                <a16:creationId xmlns:a16="http://schemas.microsoft.com/office/drawing/2014/main" id="{C741170E-21B4-4566-BD6D-CD78E12A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23</a:t>
            </a:r>
          </a:p>
        </p:txBody>
      </p:sp>
      <p:sp>
        <p:nvSpPr>
          <p:cNvPr id="4" name="원계획 유지형">
            <a:extLst xmlns:a="http://schemas.openxmlformats.org/drawingml/2006/main">
              <a:ext uri="{FF2B5EF4-FFF2-40B4-BE49-F238E27FC236}">
                <a16:creationId xmlns:a16="http://schemas.microsoft.com/office/drawing/2014/main" id="{56EB7A16-5CBF-447A-9F18-15BBC514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2238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원계획 유지형</a:t>
            </a:r>
          </a:p>
        </p:txBody>
      </p:sp>
      <p:sp>
        <p:nvSpPr>
          <p:cNvPr id="5" name="개념·조사 / 전문가 설명 / 비교 / 시뮬레이션 / 성찰">
            <a:extLst xmlns:a="http://schemas.openxmlformats.org/drawingml/2006/main">
              <a:ext uri="{FF2B5EF4-FFF2-40B4-BE49-F238E27FC236}">
                <a16:creationId xmlns:a16="http://schemas.microsoft.com/office/drawing/2014/main" id="{E4ADAADC-E53B-4344-9E87-D4F4A355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5255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개념·조사 / 전문가 설명 / 비교 / 시뮬레이션 / 성찰</a:t>
            </a:r>
          </a:p>
        </p:txBody>
      </p:sp>
      <p:sp>
        <p:nvSpPr>
          <p:cNvPr id="6" name="계획서 연결이 분명">
            <a:extLst xmlns:a="http://schemas.openxmlformats.org/drawingml/2006/main">
              <a:ext uri="{FF2B5EF4-FFF2-40B4-BE49-F238E27FC236}">
                <a16:creationId xmlns:a16="http://schemas.microsoft.com/office/drawing/2014/main" id="{B497D5F3-E95A-4843-A05E-D7C411E2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33500"/>
            <a:ext cx="1762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계획서 연결이 분명</a:t>
            </a:r>
          </a:p>
        </p:txBody>
      </p:sp>
      <p:sp>
        <p:nvSpPr>
          <p:cNvPr id="7" name="활동량 확인">
            <a:extLst xmlns:a="http://schemas.openxmlformats.org/drawingml/2006/main">
              <a:ext uri="{FF2B5EF4-FFF2-40B4-BE49-F238E27FC236}">
                <a16:creationId xmlns:a16="http://schemas.microsoft.com/office/drawing/2014/main" id="{5155303F-05BF-43B2-AAA3-6260769D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333500"/>
            <a:ext cx="1476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활동량 확인</a:t>
            </a:r>
          </a:p>
        </p:txBody>
      </p:sp>
      <p:sp>
        <p:nvSpPr>
          <p:cNvPr id="8" name="질문 중심형">
            <a:extLst xmlns:a="http://schemas.openxmlformats.org/drawingml/2006/main">
              <a:ext uri="{FF2B5EF4-FFF2-40B4-BE49-F238E27FC236}">
                <a16:creationId xmlns:a16="http://schemas.microsoft.com/office/drawing/2014/main" id="{27D7859A-F872-4A82-BC0F-77D8E5F4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2238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질문 중심형</a:t>
            </a:r>
          </a:p>
        </p:txBody>
      </p:sp>
      <p:sp>
        <p:nvSpPr>
          <p:cNvPr id="9" name="삶의 질문 / 사례 비교 / 개념 / 토론 / 성찰">
            <a:extLst xmlns:a="http://schemas.openxmlformats.org/drawingml/2006/main">
              <a:ext uri="{FF2B5EF4-FFF2-40B4-BE49-F238E27FC236}">
                <a16:creationId xmlns:a16="http://schemas.microsoft.com/office/drawing/2014/main" id="{AE66C4B2-927A-44DC-8D3B-782B61BB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33675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삶의 질문 / 사례 비교 / 개념 / 토론 / 성찰</a:t>
            </a:r>
          </a:p>
        </p:txBody>
      </p:sp>
      <p:sp>
        <p:nvSpPr>
          <p:cNvPr id="10" name="쟁점이 선명">
            <a:extLst xmlns:a="http://schemas.openxmlformats.org/drawingml/2006/main">
              <a:ext uri="{FF2B5EF4-FFF2-40B4-BE49-F238E27FC236}">
                <a16:creationId xmlns:a16="http://schemas.microsoft.com/office/drawing/2014/main" id="{79278307-71A1-4A57-B8B7-73C1CCBA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14625"/>
            <a:ext cx="1762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쟁점이 선명</a:t>
            </a:r>
          </a:p>
        </p:txBody>
      </p:sp>
      <p:sp>
        <p:nvSpPr>
          <p:cNvPr id="11" name="조사 활동 조정">
            <a:extLst xmlns:a="http://schemas.openxmlformats.org/drawingml/2006/main">
              <a:ext uri="{FF2B5EF4-FFF2-40B4-BE49-F238E27FC236}">
                <a16:creationId xmlns:a16="http://schemas.microsoft.com/office/drawing/2014/main" id="{20B4E1FC-8694-4B76-B145-234F1273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14625"/>
            <a:ext cx="1476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조사 활동 조정</a:t>
            </a:r>
          </a:p>
        </p:txBody>
      </p:sp>
      <p:sp>
        <p:nvSpPr>
          <p:cNvPr id="12" name="결과물 중심형">
            <a:extLst xmlns:a="http://schemas.openxmlformats.org/drawingml/2006/main">
              <a:ext uri="{FF2B5EF4-FFF2-40B4-BE49-F238E27FC236}">
                <a16:creationId xmlns:a16="http://schemas.microsoft.com/office/drawing/2014/main" id="{1EB4AD70-9B23-4003-8459-2ACF45F6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2238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결과물 중심형</a:t>
            </a:r>
          </a:p>
        </p:txBody>
      </p:sp>
      <p:sp>
        <p:nvSpPr>
          <p:cNvPr id="13" name="완성 예시 / 조사 / 카드 제작 / 비교 / 점검">
            <a:extLst xmlns:a="http://schemas.openxmlformats.org/drawingml/2006/main">
              <a:ext uri="{FF2B5EF4-FFF2-40B4-BE49-F238E27FC236}">
                <a16:creationId xmlns:a16="http://schemas.microsoft.com/office/drawing/2014/main" id="{8E020288-518C-4141-80E0-40F5D91A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1480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완성 예시 / 조사 / 카드 제작 / 비교 / 점검</a:t>
            </a:r>
          </a:p>
        </p:txBody>
      </p:sp>
      <p:sp>
        <p:nvSpPr>
          <p:cNvPr id="14" name="완료 모습이 빠름">
            <a:extLst xmlns:a="http://schemas.openxmlformats.org/drawingml/2006/main">
              <a:ext uri="{FF2B5EF4-FFF2-40B4-BE49-F238E27FC236}">
                <a16:creationId xmlns:a16="http://schemas.microsoft.com/office/drawing/2014/main" id="{6F9C30D3-1D21-4501-943F-BA5C6807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1762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완료 모습이 빠름</a:t>
            </a:r>
          </a:p>
        </p:txBody>
      </p:sp>
      <p:sp>
        <p:nvSpPr>
          <p:cNvPr id="15" name="개념이 얕을 수 있음">
            <a:extLst xmlns:a="http://schemas.openxmlformats.org/drawingml/2006/main">
              <a:ext uri="{FF2B5EF4-FFF2-40B4-BE49-F238E27FC236}">
                <a16:creationId xmlns:a16="http://schemas.microsoft.com/office/drawing/2014/main" id="{C968680D-CF5B-4EB8-9124-A17BCA19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095750"/>
            <a:ext cx="1476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개념이 얕을 수 있음</a:t>
            </a:r>
          </a:p>
        </p:txBody>
      </p:sp>
      <p:sp>
        <p:nvSpPr>
          <p:cNvPr id="16" name="학습자 행동 순서">
            <a:extLst xmlns:a="http://schemas.openxmlformats.org/drawingml/2006/main">
              <a:ext uri="{FF2B5EF4-FFF2-40B4-BE49-F238E27FC236}">
                <a16:creationId xmlns:a16="http://schemas.microsoft.com/office/drawing/2014/main" id="{34A5E182-25CD-4AC3-993F-CF3CA85C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0001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학습자 행동 순서</a:t>
            </a:r>
          </a:p>
        </p:txBody>
      </p:sp>
      <p:sp>
        <p:nvSpPr>
          <p:cNvPr id="17" name="장점">
            <a:extLst xmlns:a="http://schemas.openxmlformats.org/drawingml/2006/main">
              <a:ext uri="{FF2B5EF4-FFF2-40B4-BE49-F238E27FC236}">
                <a16:creationId xmlns:a16="http://schemas.microsoft.com/office/drawing/2014/main" id="{6772B152-1464-4F82-B22B-FF577FDD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0001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장점</a:t>
            </a:r>
          </a:p>
        </p:txBody>
      </p:sp>
      <p:sp>
        <p:nvSpPr>
          <p:cNvPr id="18" name="확인할 점">
            <a:extLst xmlns:a="http://schemas.openxmlformats.org/drawingml/2006/main">
              <a:ext uri="{FF2B5EF4-FFF2-40B4-BE49-F238E27FC236}">
                <a16:creationId xmlns:a16="http://schemas.microsoft.com/office/drawing/2014/main" id="{8CA577D6-880B-4663-B183-DA47E817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0001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확인할 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4F38D3-8195-4502-AF9F-150AFDDD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153150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예시 선택  원계획 유지형을 바탕으로 필요한 부분만 조정">
            <a:extLst xmlns:a="http://schemas.openxmlformats.org/drawingml/2006/main">
              <a:ext uri="{FF2B5EF4-FFF2-40B4-BE49-F238E27FC236}">
                <a16:creationId xmlns:a16="http://schemas.microsoft.com/office/drawing/2014/main" id="{F2E7DD15-3261-498D-B670-0A544CCF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23887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예시 선택  원계획 유지형을 바탕으로 필요한 부분만 조정</a:t>
            </a:r>
          </a:p>
        </p:txBody>
      </p:sp>
    </p:spTree>
    <p:extLst>
      <p:ext uri="{BB962C8B-B14F-4D97-AF65-F5344CB8AC3E}">
        <p14:creationId xmlns:p14="http://schemas.microsoft.com/office/powerpoint/2010/main" val="28477189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목차를 고를 때 확인할 네 가지">
            <a:extLst xmlns:a="http://schemas.openxmlformats.org/drawingml/2006/main">
              <a:ext uri="{FF2B5EF4-FFF2-40B4-BE49-F238E27FC236}">
                <a16:creationId xmlns:a16="http://schemas.microsoft.com/office/drawing/2014/main" id="{E554B143-E999-4FFB-979B-A4364551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목차를 고를 때 확인할 네 가지</a:t>
            </a:r>
          </a:p>
        </p:txBody>
      </p:sp>
      <p:sp>
        <p:nvSpPr>
          <p:cNvPr id="2" name="내가 결정">
            <a:extLst xmlns:a="http://schemas.openxmlformats.org/drawingml/2006/main">
              <a:ext uri="{FF2B5EF4-FFF2-40B4-BE49-F238E27FC236}">
                <a16:creationId xmlns:a16="http://schemas.microsoft.com/office/drawing/2014/main" id="{89ED8328-E364-449A-A0CE-5287A653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내가 결정</a:t>
            </a:r>
          </a:p>
        </p:txBody>
      </p:sp>
      <p:sp>
        <p:nvSpPr>
          <p:cNvPr id="3" name="24">
            <a:extLst xmlns:a="http://schemas.openxmlformats.org/drawingml/2006/main">
              <a:ext uri="{FF2B5EF4-FFF2-40B4-BE49-F238E27FC236}">
                <a16:creationId xmlns:a16="http://schemas.microsoft.com/office/drawing/2014/main" id="{E92B5EDF-44BC-40C8-AC90-7B953375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24</a:t>
            </a:r>
          </a:p>
        </p:txBody>
      </p:sp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C9FFCC1A-A8E4-4AB9-BE62-3F261507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45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FFFFFF"/>
                </a:solidFill>
                <a:latin typeface="GriunXHangeul OCHUNGI.KIM"/>
                <a:ea typeface="GriunXHangeul OCHUNGI.KIM"/>
                <a:cs typeface="GriunXHangeul OCHUNGI.KIM"/>
              </a:rPr>
              <a:t>1</a:t>
            </a:r>
          </a:p>
        </p:txBody>
      </p:sp>
      <p:sp>
        <p:nvSpPr>
          <p:cNvPr id="5" name="목표">
            <a:extLst xmlns:a="http://schemas.openxmlformats.org/drawingml/2006/main">
              <a:ext uri="{FF2B5EF4-FFF2-40B4-BE49-F238E27FC236}">
                <a16:creationId xmlns:a16="http://schemas.microsoft.com/office/drawing/2014/main" id="{BA12CC7C-CB4A-4C7D-8000-72C11197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62075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목표</a:t>
            </a:r>
          </a:p>
        </p:txBody>
      </p:sp>
      <p:sp>
        <p:nvSpPr>
          <p:cNvPr id="6" name="각 구간이 수업 목표에 이어지는가">
            <a:extLst xmlns:a="http://schemas.openxmlformats.org/drawingml/2006/main">
              <a:ext uri="{FF2B5EF4-FFF2-40B4-BE49-F238E27FC236}">
                <a16:creationId xmlns:a16="http://schemas.microsoft.com/office/drawing/2014/main" id="{3DA49991-133A-4238-B63B-A2FDB02D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36207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각 구간이 수업 목표에 이어지는가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53E942C2-FFA1-4E53-9042-6F4E41CE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5267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E83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FFFFFF"/>
                </a:solidFill>
                <a:latin typeface="GriunXHangeul OCHUNGI.KIM"/>
                <a:ea typeface="GriunXHangeul OCHUNGI.KIM"/>
                <a:cs typeface="GriunXHangeul OCHUNGI.KIM"/>
              </a:rPr>
              <a:t>2</a:t>
            </a:r>
          </a:p>
        </p:txBody>
      </p:sp>
      <p:sp>
        <p:nvSpPr>
          <p:cNvPr id="8" name="행동">
            <a:extLst xmlns:a="http://schemas.openxmlformats.org/drawingml/2006/main">
              <a:ext uri="{FF2B5EF4-FFF2-40B4-BE49-F238E27FC236}">
                <a16:creationId xmlns:a16="http://schemas.microsoft.com/office/drawing/2014/main" id="{07E3FCA6-408E-49B3-9C6E-7FA10C3B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행동</a:t>
            </a:r>
          </a:p>
        </p:txBody>
      </p:sp>
      <p:sp>
        <p:nvSpPr>
          <p:cNvPr id="9" name="학습자가 듣기만 하지 않고 실제로 하는가">
            <a:extLst xmlns:a="http://schemas.openxmlformats.org/drawingml/2006/main">
              <a:ext uri="{FF2B5EF4-FFF2-40B4-BE49-F238E27FC236}">
                <a16:creationId xmlns:a16="http://schemas.microsoft.com/office/drawing/2014/main" id="{F165BBAB-5028-4F88-BDBF-B3F33309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3362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학습자가 듣기만 하지 않고 실제로 하는가</a:t>
            </a:r>
          </a:p>
        </p:txBody>
      </p:sp>
      <p:sp>
        <p:nvSpPr>
          <p:cNvPr id="10" name="3">
            <a:extLst xmlns:a="http://schemas.openxmlformats.org/drawingml/2006/main">
              <a:ext uri="{FF2B5EF4-FFF2-40B4-BE49-F238E27FC236}">
                <a16:creationId xmlns:a16="http://schemas.microsoft.com/office/drawing/2014/main" id="{BBC86261-DC7C-491A-BA15-8363618B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2422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E83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FFFFFF"/>
                </a:solidFill>
                <a:latin typeface="GriunXHangeul OCHUNGI.KIM"/>
                <a:ea typeface="GriunXHangeul OCHUNGI.KIM"/>
                <a:cs typeface="GriunXHangeul OCHUNGI.KIM"/>
              </a:rPr>
              <a:t>3</a:t>
            </a:r>
          </a:p>
        </p:txBody>
      </p:sp>
      <p:sp>
        <p:nvSpPr>
          <p:cNvPr id="11" name="자료">
            <a:extLst xmlns:a="http://schemas.openxmlformats.org/drawingml/2006/main">
              <a:ext uri="{FF2B5EF4-FFF2-40B4-BE49-F238E27FC236}">
                <a16:creationId xmlns:a16="http://schemas.microsoft.com/office/drawing/2014/main" id="{B4AEB7FF-33C6-45C5-954E-BDDF81AE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05175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자료</a:t>
            </a:r>
          </a:p>
        </p:txBody>
      </p:sp>
      <p:sp>
        <p:nvSpPr>
          <p:cNvPr id="12" name="필요한 근거와 활동지를 준비할 수 있는가">
            <a:extLst xmlns:a="http://schemas.openxmlformats.org/drawingml/2006/main">
              <a:ext uri="{FF2B5EF4-FFF2-40B4-BE49-F238E27FC236}">
                <a16:creationId xmlns:a16="http://schemas.microsoft.com/office/drawing/2014/main" id="{834A0CE1-4CAE-4A0A-A5D3-E7AC8565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0517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필요한 근거와 활동지를 준비할 수 있는가</a:t>
            </a:r>
          </a:p>
        </p:txBody>
      </p:sp>
      <p:sp>
        <p:nvSpPr>
          <p:cNvPr id="13" name="4">
            <a:extLst xmlns:a="http://schemas.openxmlformats.org/drawingml/2006/main">
              <a:ext uri="{FF2B5EF4-FFF2-40B4-BE49-F238E27FC236}">
                <a16:creationId xmlns:a16="http://schemas.microsoft.com/office/drawing/2014/main" id="{22FB219A-E42C-409A-8AE6-15B4BEFD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9577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E83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FFFFFF"/>
                </a:solidFill>
                <a:latin typeface="GriunXHangeul OCHUNGI.KIM"/>
                <a:ea typeface="GriunXHangeul OCHUNGI.KIM"/>
                <a:cs typeface="GriunXHangeul OCHUNGI.KIM"/>
              </a:rPr>
              <a:t>4</a:t>
            </a:r>
          </a:p>
        </p:txBody>
      </p:sp>
      <p:sp>
        <p:nvSpPr>
          <p:cNvPr id="14" name="운영">
            <a:extLst xmlns:a="http://schemas.openxmlformats.org/drawingml/2006/main">
              <a:ext uri="{FF2B5EF4-FFF2-40B4-BE49-F238E27FC236}">
                <a16:creationId xmlns:a16="http://schemas.microsoft.com/office/drawing/2014/main" id="{AF3E52FF-8CF7-4ABB-BD22-2B092B1B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76725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운영</a:t>
            </a:r>
          </a:p>
        </p:txBody>
      </p:sp>
      <p:sp>
        <p:nvSpPr>
          <p:cNvPr id="15" name="내 수업 시간과 환경에서 실행할 수 있는가">
            <a:extLst xmlns:a="http://schemas.openxmlformats.org/drawingml/2006/main">
              <a:ext uri="{FF2B5EF4-FFF2-40B4-BE49-F238E27FC236}">
                <a16:creationId xmlns:a16="http://schemas.microsoft.com/office/drawing/2014/main" id="{67C8BCA3-AC73-4C3E-B151-C5BB114D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7672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내 수업 시간과 환경에서 실행할 수 있는가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523551-323C-4D9E-9B10-5B183A13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153150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네 항목을 확인한 뒤 사용할 구조와 목차를 고릅니다">
            <a:extLst xmlns:a="http://schemas.openxmlformats.org/drawingml/2006/main">
              <a:ext uri="{FF2B5EF4-FFF2-40B4-BE49-F238E27FC236}">
                <a16:creationId xmlns:a16="http://schemas.microsoft.com/office/drawing/2014/main" id="{5D29382C-210D-487A-93F9-0A2C96DA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23887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네 항목을 확인한 뒤 사용할 구조와 목차를 고릅니다</a:t>
            </a:r>
          </a:p>
        </p:txBody>
      </p:sp>
    </p:spTree>
    <p:extLst>
      <p:ext uri="{BB962C8B-B14F-4D97-AF65-F5344CB8AC3E}">
        <p14:creationId xmlns:p14="http://schemas.microsoft.com/office/powerpoint/2010/main" val="107341218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제목 목록을 장표별 제작 안내로 바꾸기">
            <a:extLst xmlns:a="http://schemas.openxmlformats.org/drawingml/2006/main">
              <a:ext uri="{FF2B5EF4-FFF2-40B4-BE49-F238E27FC236}">
                <a16:creationId xmlns:a16="http://schemas.microsoft.com/office/drawing/2014/main" id="{6A93A839-53D4-4F4F-B2BB-BA96E309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제목 목록을 장표별 제작 안내로 바꾸기</a:t>
            </a:r>
          </a:p>
        </p:txBody>
      </p:sp>
      <p:sp>
        <p:nvSpPr>
          <p:cNvPr id="2" name="따라하기">
            <a:extLst xmlns:a="http://schemas.openxmlformats.org/drawingml/2006/main">
              <a:ext uri="{FF2B5EF4-FFF2-40B4-BE49-F238E27FC236}">
                <a16:creationId xmlns:a16="http://schemas.microsoft.com/office/drawing/2014/main" id="{A87836CB-0CFB-4DAA-9215-53C50F97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따라하기</a:t>
            </a:r>
          </a:p>
        </p:txBody>
      </p:sp>
      <p:sp>
        <p:nvSpPr>
          <p:cNvPr id="3" name="25">
            <a:extLst xmlns:a="http://schemas.openxmlformats.org/drawingml/2006/main">
              <a:ext uri="{FF2B5EF4-FFF2-40B4-BE49-F238E27FC236}">
                <a16:creationId xmlns:a16="http://schemas.microsoft.com/office/drawing/2014/main" id="{04417BC1-E107-4A8C-90C1-78831DB5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25</a:t>
            </a:r>
          </a:p>
        </p:txBody>
      </p:sp>
      <p:sp>
        <p:nvSpPr>
          <p:cNvPr id="4" name="복사해서 사용">
            <a:extLst xmlns:a="http://schemas.openxmlformats.org/drawingml/2006/main">
              <a:ext uri="{FF2B5EF4-FFF2-40B4-BE49-F238E27FC236}">
                <a16:creationId xmlns:a16="http://schemas.microsoft.com/office/drawing/2014/main" id="{23C2A0A2-E045-43CA-BD86-4016E395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573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복사해서 사용</a:t>
            </a:r>
          </a:p>
        </p:txBody>
      </p:sp>
      <p:sp>
        <p:nvSpPr>
          <p:cNvPr id="5" name="내가 선택한 목차를 AI가 화면을 다시 추측하지 않아도 되도록 풀어줘.  각 장표마다 다음을 표로 ">
            <a:extLst xmlns:a="http://schemas.openxmlformats.org/drawingml/2006/main">
              <a:ext uri="{FF2B5EF4-FFF2-40B4-BE49-F238E27FC236}">
                <a16:creationId xmlns:a16="http://schemas.microsoft.com/office/drawing/2014/main" id="{976BAF1B-EEE4-4C81-91AF-FDE743AF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209550" tIns="209550" rIns="209550" bIns="2095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내가 선택한 목차를 AI가 화면을 다시 추측하지 않아도 되도록 풀어줘.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각 장표마다 다음을 표로 적어줘.</a:t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1. 이 장표가 필요한 이유</a:t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2. 화면에서 꼭 보여줄 말</a:t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3. 학습자가 할 일</a:t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4. 필요한 자료와 출처</a:t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5. 강사가 덧붙여 설명할 말</a:t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6. 앞 장표와 다음 장표의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모르는 자료는 만들지 말고 '자료 확인 후 넣기'로 표시해줘.</a:t>
            </a:r>
          </a:p>
        </p:txBody>
      </p:sp>
      <p:sp>
        <p:nvSpPr>
          <p:cNvPr id="6" name="결과  제목 목록이 장표별 제작 안내표로 바뀐다">
            <a:extLst xmlns:a="http://schemas.openxmlformats.org/drawingml/2006/main">
              <a:ext uri="{FF2B5EF4-FFF2-40B4-BE49-F238E27FC236}">
                <a16:creationId xmlns:a16="http://schemas.microsoft.com/office/drawing/2014/main" id="{A8182C16-EAB0-495C-AFDF-84D06D14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86375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결과  제목 목록이 장표별 제작 안내표로 바뀐다</a:t>
            </a:r>
          </a:p>
        </p:txBody>
      </p:sp>
    </p:spTree>
    <p:extLst>
      <p:ext uri="{BB962C8B-B14F-4D97-AF65-F5344CB8AC3E}">
        <p14:creationId xmlns:p14="http://schemas.microsoft.com/office/powerpoint/2010/main" val="212088976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예시: 장표 한 장을 이렇게 적는다">
            <a:extLst xmlns:a="http://schemas.openxmlformats.org/drawingml/2006/main">
              <a:ext uri="{FF2B5EF4-FFF2-40B4-BE49-F238E27FC236}">
                <a16:creationId xmlns:a16="http://schemas.microsoft.com/office/drawing/2014/main" id="{857EB2FD-0594-489E-8960-A12351F1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예시: 장표 한 장을 이렇게 적는다</a:t>
            </a:r>
          </a:p>
        </p:txBody>
      </p:sp>
      <p:sp>
        <p:nvSpPr>
          <p:cNvPr id="2" name="예시">
            <a:extLst xmlns:a="http://schemas.openxmlformats.org/drawingml/2006/main">
              <a:ext uri="{FF2B5EF4-FFF2-40B4-BE49-F238E27FC236}">
                <a16:creationId xmlns:a16="http://schemas.microsoft.com/office/drawing/2014/main" id="{07EF76D8-9D41-4FDE-A05D-D9E3ED7C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예시</a:t>
            </a:r>
          </a:p>
        </p:txBody>
      </p:sp>
      <p:sp>
        <p:nvSpPr>
          <p:cNvPr id="3" name="26">
            <a:extLst xmlns:a="http://schemas.openxmlformats.org/drawingml/2006/main">
              <a:ext uri="{FF2B5EF4-FFF2-40B4-BE49-F238E27FC236}">
                <a16:creationId xmlns:a16="http://schemas.microsoft.com/office/drawing/2014/main" id="{F100EA1B-C153-4A7A-89E2-509F2553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26</a:t>
            </a:r>
          </a:p>
        </p:txBody>
      </p:sp>
      <p:sp>
        <p:nvSpPr>
          <p:cNvPr id="4" name="시민 삶 지표 카드">
            <a:extLst xmlns:a="http://schemas.openxmlformats.org/drawingml/2006/main">
              <a:ext uri="{FF2B5EF4-FFF2-40B4-BE49-F238E27FC236}">
                <a16:creationId xmlns:a16="http://schemas.microsoft.com/office/drawing/2014/main" id="{FA8C5443-6FA5-4F95-AF64-F5B4A3D3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1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시민 삶 지표 카드</a:t>
            </a:r>
          </a:p>
        </p:txBody>
      </p:sp>
      <p:sp>
        <p:nvSpPr>
          <p:cNvPr id="5" name="왜 필요한가">
            <a:extLst xmlns:a="http://schemas.openxmlformats.org/drawingml/2006/main">
              <a:ext uri="{FF2B5EF4-FFF2-40B4-BE49-F238E27FC236}">
                <a16:creationId xmlns:a16="http://schemas.microsoft.com/office/drawing/2014/main" id="{949CDB5C-F166-446E-8F11-9F487253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왜 필요한가</a:t>
            </a:r>
          </a:p>
        </p:txBody>
      </p:sp>
      <p:sp>
        <p:nvSpPr>
          <p:cNvPr id="6" name="국가별 자료를 같은 항목으로 정리해야 다음 비교 활동이 가능하다">
            <a:extLst xmlns:a="http://schemas.openxmlformats.org/drawingml/2006/main">
              <a:ext uri="{FF2B5EF4-FFF2-40B4-BE49-F238E27FC236}">
                <a16:creationId xmlns:a16="http://schemas.microsoft.com/office/drawing/2014/main" id="{1B6AB871-DF9A-4D86-B736-48362767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국가별 자료를 같은 항목으로 정리해야</a:t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다음 비교 활동이 가능하다</a:t>
            </a:r>
          </a:p>
        </p:txBody>
      </p:sp>
      <p:sp>
        <p:nvSpPr>
          <p:cNvPr id="7" name="학습자가 할 일">
            <a:extLst xmlns:a="http://schemas.openxmlformats.org/drawingml/2006/main">
              <a:ext uri="{FF2B5EF4-FFF2-40B4-BE49-F238E27FC236}">
                <a16:creationId xmlns:a16="http://schemas.microsoft.com/office/drawing/2014/main" id="{A5B3F0A2-B6CB-4F1E-B988-E5A40B47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학습자가 할 일</a:t>
            </a:r>
          </a:p>
        </p:txBody>
      </p:sp>
      <p:sp>
        <p:nvSpPr>
          <p:cNvPr id="8" name="담당 국가 자료로 네 칸을 채우고 근거가 없는 문장을 표시한다">
            <a:extLst xmlns:a="http://schemas.openxmlformats.org/drawingml/2006/main">
              <a:ext uri="{FF2B5EF4-FFF2-40B4-BE49-F238E27FC236}">
                <a16:creationId xmlns:a16="http://schemas.microsoft.com/office/drawing/2014/main" id="{7D989304-AE99-4D02-95EA-955F71F1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담당 국가 자료로 네 칸을 채우고</a:t>
            </a:r>
          </a:p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근거가 없는 문장을 표시한다</a:t>
            </a:r>
          </a:p>
        </p:txBody>
      </p:sp>
      <p:sp>
        <p:nvSpPr>
          <p:cNvPr id="9" name="화면에 보일 말">
            <a:extLst xmlns:a="http://schemas.openxmlformats.org/drawingml/2006/main">
              <a:ext uri="{FF2B5EF4-FFF2-40B4-BE49-F238E27FC236}">
                <a16:creationId xmlns:a16="http://schemas.microsoft.com/office/drawing/2014/main" id="{6C6EF5CE-CAA0-435F-962E-3F44BEA8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81125"/>
            <a:ext cx="1857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화면에 보일 말</a:t>
            </a:r>
          </a:p>
        </p:txBody>
      </p:sp>
      <p:sp>
        <p:nvSpPr>
          <p:cNvPr id="10" name="정치 체제 특징 / 시민 삶 영향 / 출처 / 기준 시점">
            <a:extLst xmlns:a="http://schemas.openxmlformats.org/drawingml/2006/main">
              <a:ext uri="{FF2B5EF4-FFF2-40B4-BE49-F238E27FC236}">
                <a16:creationId xmlns:a16="http://schemas.microsoft.com/office/drawing/2014/main" id="{10464461-FDFE-4190-BDF5-D3C87A72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0970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정치 체제 특징 / 시민 삶 영향 / 출처 / 기준 시점</a:t>
            </a:r>
          </a:p>
        </p:txBody>
      </p:sp>
      <p:sp>
        <p:nvSpPr>
          <p:cNvPr id="11" name="필요한 자료">
            <a:extLst xmlns:a="http://schemas.openxmlformats.org/drawingml/2006/main">
              <a:ext uri="{FF2B5EF4-FFF2-40B4-BE49-F238E27FC236}">
                <a16:creationId xmlns:a16="http://schemas.microsoft.com/office/drawing/2014/main" id="{8EC6E81D-BC1D-4B1F-B139-ECAAEF5F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62200"/>
            <a:ext cx="1857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필요한 자료</a:t>
            </a:r>
          </a:p>
        </p:txBody>
      </p:sp>
      <p:sp>
        <p:nvSpPr>
          <p:cNvPr id="12" name="채택한 공식 자료. 최신 수치는 확인 후 넣기">
            <a:extLst xmlns:a="http://schemas.openxmlformats.org/drawingml/2006/main">
              <a:ext uri="{FF2B5EF4-FFF2-40B4-BE49-F238E27FC236}">
                <a16:creationId xmlns:a16="http://schemas.microsoft.com/office/drawing/2014/main" id="{46CEFF51-885E-497F-906E-2D5487E2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90775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채택한 공식 자료. 최신 수치는 확인 후 넣기</a:t>
            </a:r>
          </a:p>
        </p:txBody>
      </p:sp>
      <p:sp>
        <p:nvSpPr>
          <p:cNvPr id="13" name="강사 설명">
            <a:extLst xmlns:a="http://schemas.openxmlformats.org/drawingml/2006/main">
              <a:ext uri="{FF2B5EF4-FFF2-40B4-BE49-F238E27FC236}">
                <a16:creationId xmlns:a16="http://schemas.microsoft.com/office/drawing/2014/main" id="{302D75E9-D795-4472-83A5-C5C5BD07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43275"/>
            <a:ext cx="1857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강사 설명</a:t>
            </a:r>
          </a:p>
        </p:txBody>
      </p:sp>
      <p:sp>
        <p:nvSpPr>
          <p:cNvPr id="14" name="국가를 좋다·나쁘다로 단순 평가하지 않기">
            <a:extLst xmlns:a="http://schemas.openxmlformats.org/drawingml/2006/main">
              <a:ext uri="{FF2B5EF4-FFF2-40B4-BE49-F238E27FC236}">
                <a16:creationId xmlns:a16="http://schemas.microsoft.com/office/drawing/2014/main" id="{A35C0B65-BE98-4B54-B5F1-4E9629E5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국가를 좋다·나쁘다로 단순 평가하지 않기</a:t>
            </a:r>
          </a:p>
        </p:txBody>
      </p:sp>
      <p:sp>
        <p:nvSpPr>
          <p:cNvPr id="15" name="앞뒤 연결">
            <a:extLst xmlns:a="http://schemas.openxmlformats.org/drawingml/2006/main">
              <a:ext uri="{FF2B5EF4-FFF2-40B4-BE49-F238E27FC236}">
                <a16:creationId xmlns:a16="http://schemas.microsoft.com/office/drawing/2014/main" id="{D420C401-183C-4052-A86C-9A62515C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24350"/>
            <a:ext cx="1857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앞뒤 연결</a:t>
            </a:r>
          </a:p>
        </p:txBody>
      </p:sp>
      <p:sp>
        <p:nvSpPr>
          <p:cNvPr id="16" name="조사 방법 / 지표 카드 / 국가별 카드 공유">
            <a:extLst xmlns:a="http://schemas.openxmlformats.org/drawingml/2006/main">
              <a:ext uri="{FF2B5EF4-FFF2-40B4-BE49-F238E27FC236}">
                <a16:creationId xmlns:a16="http://schemas.microsoft.com/office/drawing/2014/main" id="{B5899598-6758-4767-9060-4C7B18C9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52925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조사 방법 / 지표 카드 / 국가별 카드 공유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626472-6D92-4937-938C-2F6C87EB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153150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제목만 적는 것과 무엇을 보여주고 하게 할지 적는 것은 다릅니다">
            <a:extLst xmlns:a="http://schemas.openxmlformats.org/drawingml/2006/main">
              <a:ext uri="{FF2B5EF4-FFF2-40B4-BE49-F238E27FC236}">
                <a16:creationId xmlns:a16="http://schemas.microsoft.com/office/drawing/2014/main" id="{DD432A22-B613-4D1E-840B-5F0B8270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23887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제목만 적는 것과 무엇을 보여주고 하게 할지 적는 것은 다릅니다</a:t>
            </a:r>
          </a:p>
        </p:txBody>
      </p:sp>
    </p:spTree>
    <p:extLst>
      <p:ext uri="{BB962C8B-B14F-4D97-AF65-F5344CB8AC3E}">
        <p14:creationId xmlns:p14="http://schemas.microsoft.com/office/powerpoint/2010/main" val="52667999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화면·강사 설명·활동지를 나누는 이유">
            <a:extLst xmlns:a="http://schemas.openxmlformats.org/drawingml/2006/main">
              <a:ext uri="{FF2B5EF4-FFF2-40B4-BE49-F238E27FC236}">
                <a16:creationId xmlns:a16="http://schemas.microsoft.com/office/drawing/2014/main" id="{DCA54F5E-7D60-47EA-9E81-119ED542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화면·강사 설명·활동지를 나누는 이유</a:t>
            </a:r>
          </a:p>
        </p:txBody>
      </p:sp>
      <p:sp>
        <p:nvSpPr>
          <p:cNvPr id="2" name="따라하기">
            <a:extLst xmlns:a="http://schemas.openxmlformats.org/drawingml/2006/main">
              <a:ext uri="{FF2B5EF4-FFF2-40B4-BE49-F238E27FC236}">
                <a16:creationId xmlns:a16="http://schemas.microsoft.com/office/drawing/2014/main" id="{83E8335C-27E1-4215-948F-60A44030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따라하기</a:t>
            </a:r>
          </a:p>
        </p:txBody>
      </p:sp>
      <p:sp>
        <p:nvSpPr>
          <p:cNvPr id="3" name="27">
            <a:extLst xmlns:a="http://schemas.openxmlformats.org/drawingml/2006/main">
              <a:ext uri="{FF2B5EF4-FFF2-40B4-BE49-F238E27FC236}">
                <a16:creationId xmlns:a16="http://schemas.microsoft.com/office/drawing/2014/main" id="{5963ACA3-6975-4C8E-8D74-D98BE906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27</a:t>
            </a:r>
          </a:p>
        </p:txBody>
      </p:sp>
      <p:sp>
        <p:nvSpPr>
          <p:cNvPr id="4" name="화면">
            <a:extLst xmlns:a="http://schemas.openxmlformats.org/drawingml/2006/main">
              <a:ext uri="{FF2B5EF4-FFF2-40B4-BE49-F238E27FC236}">
                <a16:creationId xmlns:a16="http://schemas.microsoft.com/office/drawing/2014/main" id="{C68A699F-C425-4574-AAAB-49AC51C9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1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화면</a:t>
            </a:r>
          </a:p>
        </p:txBody>
      </p:sp>
      <p:sp>
        <p:nvSpPr>
          <p:cNvPr id="5" name="모두가 함께 볼 핵심">
            <a:extLst xmlns:a="http://schemas.openxmlformats.org/drawingml/2006/main">
              <a:ext uri="{FF2B5EF4-FFF2-40B4-BE49-F238E27FC236}">
                <a16:creationId xmlns:a16="http://schemas.microsoft.com/office/drawing/2014/main" id="{BD304789-81A9-4950-96D1-68093790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24000"/>
            <a:ext cx="3714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모두가 함께 볼 핵심</a:t>
            </a:r>
          </a:p>
        </p:txBody>
      </p:sp>
      <p:sp>
        <p:nvSpPr>
          <p:cNvPr id="6" name="짧은 문장과 관찰 대상">
            <a:extLst xmlns:a="http://schemas.openxmlformats.org/drawingml/2006/main">
              <a:ext uri="{FF2B5EF4-FFF2-40B4-BE49-F238E27FC236}">
                <a16:creationId xmlns:a16="http://schemas.microsoft.com/office/drawing/2014/main" id="{639C7415-F03A-4384-AD0D-ED51DB0F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76375"/>
            <a:ext cx="4286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짧은 문장과 관찰 대상</a:t>
            </a:r>
          </a:p>
        </p:txBody>
      </p:sp>
      <p:sp>
        <p:nvSpPr>
          <p:cNvPr id="7" name="강사 노트">
            <a:extLst xmlns:a="http://schemas.openxmlformats.org/drawingml/2006/main">
              <a:ext uri="{FF2B5EF4-FFF2-40B4-BE49-F238E27FC236}">
                <a16:creationId xmlns:a16="http://schemas.microsoft.com/office/drawing/2014/main" id="{FAABC893-2AEE-4A04-A2C9-4135F8E5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1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강사 노트</a:t>
            </a:r>
          </a:p>
        </p:txBody>
      </p:sp>
      <p:sp>
        <p:nvSpPr>
          <p:cNvPr id="8" name="강사가 덧붙일 설명">
            <a:extLst xmlns:a="http://schemas.openxmlformats.org/drawingml/2006/main">
              <a:ext uri="{FF2B5EF4-FFF2-40B4-BE49-F238E27FC236}">
                <a16:creationId xmlns:a16="http://schemas.microsoft.com/office/drawing/2014/main" id="{688319C1-02D1-4766-8EB6-820895FC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57500"/>
            <a:ext cx="3714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강사가 덧붙일 설명</a:t>
            </a:r>
          </a:p>
        </p:txBody>
      </p:sp>
      <p:sp>
        <p:nvSpPr>
          <p:cNvPr id="9" name="근거·예시·전환 질문">
            <a:extLst xmlns:a="http://schemas.openxmlformats.org/drawingml/2006/main">
              <a:ext uri="{FF2B5EF4-FFF2-40B4-BE49-F238E27FC236}">
                <a16:creationId xmlns:a16="http://schemas.microsoft.com/office/drawing/2014/main" id="{C7D39D52-9F01-4221-BE2E-397E7B9D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4286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16E83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근거·예시·전환 질문</a:t>
            </a:r>
          </a:p>
        </p:txBody>
      </p:sp>
      <p:sp>
        <p:nvSpPr>
          <p:cNvPr id="10" name="활동지">
            <a:extLst xmlns:a="http://schemas.openxmlformats.org/drawingml/2006/main">
              <a:ext uri="{FF2B5EF4-FFF2-40B4-BE49-F238E27FC236}">
                <a16:creationId xmlns:a16="http://schemas.microsoft.com/office/drawing/2014/main" id="{6EC13838-4437-4DB8-8728-14F30BC8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1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활동지</a:t>
            </a:r>
          </a:p>
        </p:txBody>
      </p:sp>
      <p:sp>
        <p:nvSpPr>
          <p:cNvPr id="11" name="학습자가 직접 실행할 말">
            <a:extLst xmlns:a="http://schemas.openxmlformats.org/drawingml/2006/main">
              <a:ext uri="{FF2B5EF4-FFF2-40B4-BE49-F238E27FC236}">
                <a16:creationId xmlns:a16="http://schemas.microsoft.com/office/drawing/2014/main" id="{17638C07-2DD2-49C8-9377-7FBF79ED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3714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학습자가 직접 실행할 말</a:t>
            </a:r>
          </a:p>
        </p:txBody>
      </p:sp>
      <p:sp>
        <p:nvSpPr>
          <p:cNvPr id="12" name="할 일·사용 자료·완료 모습">
            <a:extLst xmlns:a="http://schemas.openxmlformats.org/drawingml/2006/main">
              <a:ext uri="{FF2B5EF4-FFF2-40B4-BE49-F238E27FC236}">
                <a16:creationId xmlns:a16="http://schemas.microsoft.com/office/drawing/2014/main" id="{93912B67-1F53-43CD-BAEE-7A3FE819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4286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할 일·사용 자료·완료 모습</a:t>
            </a:r>
          </a:p>
        </p:txBody>
      </p:sp>
      <p:sp>
        <p:nvSpPr>
          <p:cNvPr id="13" name="한 화면에 세 가지를 모두 넣으면 글이 길어지고 학습자의 할 일이 묻힙니다">
            <a:extLst xmlns:a="http://schemas.openxmlformats.org/drawingml/2006/main">
              <a:ext uri="{FF2B5EF4-FFF2-40B4-BE49-F238E27FC236}">
                <a16:creationId xmlns:a16="http://schemas.microsoft.com/office/drawing/2014/main" id="{8C65E1CF-B9CE-48C0-B857-A5E18753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72125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한 화면에 세 가지를 모두 넣으면 글이 길어지고 학습자의 할 일이 묻힙니다</a:t>
            </a:r>
          </a:p>
        </p:txBody>
      </p:sp>
    </p:spTree>
    <p:extLst>
      <p:ext uri="{BB962C8B-B14F-4D97-AF65-F5344CB8AC3E}">
        <p14:creationId xmlns:p14="http://schemas.microsoft.com/office/powerpoint/2010/main" val="116091194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다음 시간 제작을 위한 최종 요청">
            <a:extLst xmlns:a="http://schemas.openxmlformats.org/drawingml/2006/main">
              <a:ext uri="{FF2B5EF4-FFF2-40B4-BE49-F238E27FC236}">
                <a16:creationId xmlns:a16="http://schemas.microsoft.com/office/drawing/2014/main" id="{F5C54B4C-AAAB-462E-92B6-5723EDB6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0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다음 시간 제작을 위한 최종 요청</a:t>
            </a:r>
          </a:p>
        </p:txBody>
      </p:sp>
      <p:sp>
        <p:nvSpPr>
          <p:cNvPr id="2" name="내가 결정">
            <a:extLst xmlns:a="http://schemas.openxmlformats.org/drawingml/2006/main">
              <a:ext uri="{FF2B5EF4-FFF2-40B4-BE49-F238E27FC236}">
                <a16:creationId xmlns:a16="http://schemas.microsoft.com/office/drawing/2014/main" id="{1A907923-60B8-4B34-9763-CD7CBBBB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내가 결정</a:t>
            </a:r>
          </a:p>
        </p:txBody>
      </p:sp>
      <p:sp>
        <p:nvSpPr>
          <p:cNvPr id="3" name="28">
            <a:extLst xmlns:a="http://schemas.openxmlformats.org/drawingml/2006/main">
              <a:ext uri="{FF2B5EF4-FFF2-40B4-BE49-F238E27FC236}">
                <a16:creationId xmlns:a16="http://schemas.microsoft.com/office/drawing/2014/main" id="{8EFE08F3-C623-43A1-91CE-F723962E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500" b="0">
                <a:solidFill>
                  <a:srgbClr val="6D6D6D"/>
                </a:solidFill>
                <a:latin typeface="GriunXHangeul OCHUNGI.KIM"/>
                <a:ea typeface="GriunXHangeul OCHUNGI.KIM"/>
                <a:cs typeface="GriunXHangeul OCHUNGI.KIM"/>
              </a:rPr>
              <a:t>28</a:t>
            </a:r>
          </a:p>
        </p:txBody>
      </p:sp>
      <p:sp>
        <p:nvSpPr>
          <p:cNvPr id="4" name="AI에게 함께 줄 것">
            <a:extLst xmlns:a="http://schemas.openxmlformats.org/drawingml/2006/main">
              <a:ext uri="{FF2B5EF4-FFF2-40B4-BE49-F238E27FC236}">
                <a16:creationId xmlns:a16="http://schemas.microsoft.com/office/drawing/2014/main" id="{23C95FB4-C613-4ED5-8F26-4798516A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AI에게 함께 줄 것</a:t>
            </a:r>
          </a:p>
        </p:txBody>
      </p:sp>
      <p:sp>
        <p:nvSpPr>
          <p:cNvPr id="5" name="□ 승인한 장표별 제작 안내표">
            <a:extLst xmlns:a="http://schemas.openxmlformats.org/drawingml/2006/main">
              <a:ext uri="{FF2B5EF4-FFF2-40B4-BE49-F238E27FC236}">
                <a16:creationId xmlns:a16="http://schemas.microsoft.com/office/drawing/2014/main" id="{A093801C-16D5-4195-A9C4-A364CAAF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승인한 장표별 제작 안내표</a:t>
            </a:r>
          </a:p>
        </p:txBody>
      </p:sp>
      <p:sp>
        <p:nvSpPr>
          <p:cNvPr id="6" name="□ 강의계획서·design.md·샘플 PPT">
            <a:extLst xmlns:a="http://schemas.openxmlformats.org/drawingml/2006/main">
              <a:ext uri="{FF2B5EF4-FFF2-40B4-BE49-F238E27FC236}">
                <a16:creationId xmlns:a16="http://schemas.microsoft.com/office/drawing/2014/main" id="{3990451D-7B88-4D82-88DF-283F5786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43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강의계획서·design.md·샘플 PPT</a:t>
            </a:r>
          </a:p>
        </p:txBody>
      </p:sp>
      <p:sp>
        <p:nvSpPr>
          <p:cNvPr id="7" name="□ 선택한 자료와 출처">
            <a:extLst xmlns:a="http://schemas.openxmlformats.org/drawingml/2006/main">
              <a:ext uri="{FF2B5EF4-FFF2-40B4-BE49-F238E27FC236}">
                <a16:creationId xmlns:a16="http://schemas.microsoft.com/office/drawing/2014/main" id="{08D902AB-BF32-49B9-B5E1-A1A39F6E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241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선택한 자료와 출처</a:t>
            </a:r>
          </a:p>
        </p:txBody>
      </p:sp>
      <p:sp>
        <p:nvSpPr>
          <p:cNvPr id="8" name="□ 디자인 조합과 제목·본문 폰트">
            <a:extLst xmlns:a="http://schemas.openxmlformats.org/drawingml/2006/main">
              <a:ext uri="{FF2B5EF4-FFF2-40B4-BE49-F238E27FC236}">
                <a16:creationId xmlns:a16="http://schemas.microsoft.com/office/drawing/2014/main" id="{AFF8BA35-CDA6-4360-BBFD-D7C6ECDD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05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디자인 조합과 제목·본문 폰트</a:t>
            </a:r>
          </a:p>
        </p:txBody>
      </p:sp>
      <p:sp>
        <p:nvSpPr>
          <p:cNvPr id="9" name="□ 결과 형식·저장 위치·파일명">
            <a:extLst xmlns:a="http://schemas.openxmlformats.org/drawingml/2006/main">
              <a:ext uri="{FF2B5EF4-FFF2-40B4-BE49-F238E27FC236}">
                <a16:creationId xmlns:a16="http://schemas.microsoft.com/office/drawing/2014/main" id="{728AF8FA-9484-438D-ABCC-8CD8302A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862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결과 형식·저장 위치·파일명</a:t>
            </a:r>
          </a:p>
        </p:txBody>
      </p:sp>
      <p:sp>
        <p:nvSpPr>
          <p:cNvPr id="10" name="먼저 성격이 다른 장표 2장을 만들어줘. 실제 화면으로 열어 글자 잘림, 겹침, 멀리서 핵심이 읽히">
            <a:extLst xmlns:a="http://schemas.openxmlformats.org/drawingml/2006/main">
              <a:ext uri="{FF2B5EF4-FFF2-40B4-BE49-F238E27FC236}">
                <a16:creationId xmlns:a16="http://schemas.microsoft.com/office/drawing/2014/main" id="{DEC68EAB-592C-405A-8C84-C9C049C8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381125"/>
            <a:ext cx="542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F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190500" tIns="190500" rIns="190500" bIns="1905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먼저 성격이 다른 장표 2장을 만들어줘.</a:t>
            </a:r>
          </a:p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실제 화면으로 열어 글자 잘림, 겹침,</a:t>
            </a:r>
          </a:p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멀리서 핵심이 읽히는지 확인해줘.</a:t>
            </a:r>
          </a:p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문제가 있으면 해당 장표만 고치고,</a:t>
            </a:r>
          </a:p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전체 교안은 내가 두 장을 확인한 뒤 만들어줘.</a:t>
            </a:r>
          </a:p>
        </p:txBody>
      </p:sp>
      <p:sp>
        <p:nvSpPr>
          <p:cNvPr id="11" name="내가 마지막으로 확인  디자인 조합 / 폰트 / 형식 / 이름 / 제작 범위">
            <a:extLst xmlns:a="http://schemas.openxmlformats.org/drawingml/2006/main">
              <a:ext uri="{FF2B5EF4-FFF2-40B4-BE49-F238E27FC236}">
                <a16:creationId xmlns:a16="http://schemas.microsoft.com/office/drawing/2014/main" id="{9CFB831B-0F86-4907-A9B0-D226CB64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B"/>
          </a:solidFill>
          <a:ln xmlns:a="http://schemas.openxmlformats.org/drawingml/2006/main" w="19050">
            <a:solidFill>
              <a:srgbClr val="B84F45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내가 마지막으로 확인  디자인 조합 / 폰트 / 형식 / 이름 / 제작 범위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CB660B-CE28-4203-842C-78D3667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153150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1차시 완료  AI가 무엇을 만들지 추측하지 않아도 되는 상태">
            <a:extLst xmlns:a="http://schemas.openxmlformats.org/drawingml/2006/main">
              <a:ext uri="{FF2B5EF4-FFF2-40B4-BE49-F238E27FC236}">
                <a16:creationId xmlns:a16="http://schemas.microsoft.com/office/drawing/2014/main" id="{50420B13-3013-42C7-92C5-E46444A4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23887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1차시 완료  AI가 무엇을 만들지 추측하지 않아도 되는 상태</a:t>
            </a:r>
          </a:p>
        </p:txBody>
      </p:sp>
    </p:spTree>
    <p:extLst>
      <p:ext uri="{BB962C8B-B14F-4D97-AF65-F5344CB8AC3E}">
        <p14:creationId xmlns:p14="http://schemas.microsoft.com/office/powerpoint/2010/main" val="6242823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2026-09-12T01:39:03.2620000Z</dcterms:created>
  <dcterms:modified xsi:type="dcterms:W3CDTF">2026-09-12T01:39:03.2620000Z</dcterms:modified>
</coreProperties>
</file>